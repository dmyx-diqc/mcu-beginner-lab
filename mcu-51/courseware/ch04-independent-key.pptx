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0" r:id="rId2"/>
    <p:sldId id="304" r:id="rId3"/>
    <p:sldId id="318" r:id="rId4"/>
    <p:sldId id="321" r:id="rId5"/>
    <p:sldId id="319" r:id="rId6"/>
    <p:sldId id="322" r:id="rId7"/>
    <p:sldId id="314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  <p15:guide id="6" orient="horz" pos="618" userDrawn="1">
          <p15:clr>
            <a:srgbClr val="A4A3A4"/>
          </p15:clr>
        </p15:guide>
        <p15:guide id="7" orient="horz" pos="4056" userDrawn="1">
          <p15:clr>
            <a:srgbClr val="A4A3A4"/>
          </p15:clr>
        </p15:guide>
        <p15:guide id="8" orient="horz" pos="399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  <p15:guide id="10" pos="5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CCD1E4"/>
    <a:srgbClr val="FEECE9"/>
    <a:srgbClr val="303B8F"/>
    <a:srgbClr val="FEFCFA"/>
    <a:srgbClr val="FE7F6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93" autoAdjust="0"/>
  </p:normalViewPr>
  <p:slideViewPr>
    <p:cSldViewPr snapToGrid="0" showGuides="1">
      <p:cViewPr varScale="1">
        <p:scale>
          <a:sx n="94" d="100"/>
          <a:sy n="94" d="100"/>
        </p:scale>
        <p:origin x="618" y="90"/>
      </p:cViewPr>
      <p:guideLst>
        <p:guide orient="horz" pos="2296"/>
        <p:guide pos="3863"/>
        <p:guide pos="279"/>
        <p:guide pos="7378"/>
        <p:guide orient="horz" pos="572"/>
        <p:guide orient="horz" pos="618"/>
        <p:guide orient="horz" pos="4056"/>
        <p:guide orient="horz" pos="3992"/>
        <p:guide orient="horz" pos="3339"/>
        <p:guide pos="52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B6F5A-1C90-49E3-B006-EB0C9DD899DA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82636-17AD-46C0-A806-1A7224D9A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3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3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92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44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891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656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0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82636-17AD-46C0-A806-1A7224D9A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10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6963DBC-52F0-4A99-941A-6A1E022B9F21}"/>
              </a:ext>
            </a:extLst>
          </p:cNvPr>
          <p:cNvSpPr/>
          <p:nvPr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3D5394-5F8D-492B-9810-0078F1946908}"/>
              </a:ext>
            </a:extLst>
          </p:cNvPr>
          <p:cNvSpPr txBox="1"/>
          <p:nvPr userDrawn="1"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FFCFC8C-F3FE-49E9-8D4B-6621397DE6E0}"/>
              </a:ext>
            </a:extLst>
          </p:cNvPr>
          <p:cNvGrpSpPr/>
          <p:nvPr/>
        </p:nvGrpSpPr>
        <p:grpSpPr>
          <a:xfrm>
            <a:off x="-1474229" y="-1350932"/>
            <a:ext cx="2502566" cy="2502570"/>
            <a:chOff x="-1251283" y="-1168764"/>
            <a:chExt cx="2502566" cy="2502570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1343C64-1C49-4FA6-A78C-70B60A2A477C}"/>
                </a:ext>
              </a:extLst>
            </p:cNvPr>
            <p:cNvSpPr/>
            <p:nvPr/>
          </p:nvSpPr>
          <p:spPr>
            <a:xfrm>
              <a:off x="-505529" y="-423009"/>
              <a:ext cx="1011060" cy="1011062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74A0836-E0E7-4463-BA66-9D4360945DA0}"/>
                </a:ext>
              </a:extLst>
            </p:cNvPr>
            <p:cNvSpPr/>
            <p:nvPr/>
          </p:nvSpPr>
          <p:spPr>
            <a:xfrm>
              <a:off x="-691966" y="-609448"/>
              <a:ext cx="1383936" cy="1383939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42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47DAB21-0126-40B2-9AAE-831F71583619}"/>
                </a:ext>
              </a:extLst>
            </p:cNvPr>
            <p:cNvSpPr/>
            <p:nvPr/>
          </p:nvSpPr>
          <p:spPr>
            <a:xfrm>
              <a:off x="-878405" y="-795886"/>
              <a:ext cx="1756814" cy="1756817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3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6307FD1-C6B8-4BE2-976A-91863E9EBB71}"/>
                </a:ext>
              </a:extLst>
            </p:cNvPr>
            <p:cNvSpPr/>
            <p:nvPr/>
          </p:nvSpPr>
          <p:spPr>
            <a:xfrm>
              <a:off x="-1064844" y="-982325"/>
              <a:ext cx="2129690" cy="2129693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75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2ADF5C0-D11E-48DB-875A-2FCC66DC22AC}"/>
                </a:ext>
              </a:extLst>
            </p:cNvPr>
            <p:cNvSpPr/>
            <p:nvPr/>
          </p:nvSpPr>
          <p:spPr>
            <a:xfrm>
              <a:off x="-1251283" y="-1168764"/>
              <a:ext cx="2502566" cy="2502570"/>
            </a:xfrm>
            <a:prstGeom prst="ellipse">
              <a:avLst/>
            </a:prstGeom>
            <a:noFill/>
            <a:ln w="3175" cap="flat" cmpd="sng" algn="ctr">
              <a:solidFill>
                <a:schemeClr val="accent1"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>
                    <a:lumMod val="100000"/>
                  </a:schemeClr>
                </a:solidFill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0FD2C978-7471-4A72-96E3-685B10FC6250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22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8AC99A-568E-45B6-9DB0-75E736C4FD40}"/>
              </a:ext>
            </a:extLst>
          </p:cNvPr>
          <p:cNvSpPr/>
          <p:nvPr userDrawn="1"/>
        </p:nvSpPr>
        <p:spPr>
          <a:xfrm>
            <a:off x="-299280" y="521642"/>
            <a:ext cx="781880" cy="1280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A607FCE-E8A1-4B38-A62F-AB994050E9C6}"/>
              </a:ext>
            </a:extLst>
          </p:cNvPr>
          <p:cNvSpPr/>
          <p:nvPr userDrawn="1"/>
        </p:nvSpPr>
        <p:spPr>
          <a:xfrm>
            <a:off x="-594293" y="774700"/>
            <a:ext cx="1076893" cy="3604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76200" dist="508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3A1752-8A7B-4110-961C-FF10BC1885B4}"/>
              </a:ext>
            </a:extLst>
          </p:cNvPr>
          <p:cNvSpPr/>
          <p:nvPr userDrawn="1"/>
        </p:nvSpPr>
        <p:spPr>
          <a:xfrm>
            <a:off x="0" y="6337300"/>
            <a:ext cx="121920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3F4091-0FCB-4F98-A6CD-3498D323DD97}"/>
              </a:ext>
            </a:extLst>
          </p:cNvPr>
          <p:cNvSpPr txBox="1"/>
          <p:nvPr/>
        </p:nvSpPr>
        <p:spPr>
          <a:xfrm>
            <a:off x="379279" y="6459150"/>
            <a:ext cx="85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120" err="1">
                <a:solidFill>
                  <a:schemeClr val="bg1">
                    <a:alpha val="60000"/>
                  </a:schemeClr>
                </a:solidFill>
                <a:latin typeface="+mn-ea"/>
              </a:rPr>
              <a:t>Leyutek</a:t>
            </a:r>
            <a:endParaRPr lang="zh-CN" altLang="en-US" sz="1200" spc="120">
              <a:solidFill>
                <a:schemeClr val="bg1">
                  <a:alpha val="60000"/>
                </a:schemeClr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77331-F4A1-48BE-A9EA-C706B51AB294}"/>
              </a:ext>
            </a:extLst>
          </p:cNvPr>
          <p:cNvSpPr/>
          <p:nvPr userDrawn="1"/>
        </p:nvSpPr>
        <p:spPr>
          <a:xfrm>
            <a:off x="0" y="6096000"/>
            <a:ext cx="12192000" cy="241300"/>
          </a:xfrm>
          <a:prstGeom prst="rect">
            <a:avLst/>
          </a:prstGeom>
          <a:solidFill>
            <a:srgbClr val="FAEA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7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4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04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5" orient="horz" pos="560" userDrawn="1">
          <p15:clr>
            <a:srgbClr val="F26B43"/>
          </p15:clr>
        </p15:guide>
        <p15:guide id="6" orient="horz" pos="624" userDrawn="1">
          <p15:clr>
            <a:srgbClr val="F26B43"/>
          </p15:clr>
        </p15:guide>
        <p15:guide id="7" orient="horz" pos="4056" userDrawn="1">
          <p15:clr>
            <a:srgbClr val="F26B43"/>
          </p15:clr>
        </p15:guide>
        <p15:guide id="8" orient="horz" pos="39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5.emf"/><Relationship Id="rId2" Type="http://schemas.openxmlformats.org/officeDocument/2006/relationships/tags" Target="../tags/tag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>
            <a:extLst>
              <a:ext uri="{FF2B5EF4-FFF2-40B4-BE49-F238E27FC236}">
                <a16:creationId xmlns:a16="http://schemas.microsoft.com/office/drawing/2014/main" id="{D596D725-AB69-42C2-8189-3831F5FC6D28}"/>
              </a:ext>
            </a:extLst>
          </p:cNvPr>
          <p:cNvSpPr txBox="1"/>
          <p:nvPr/>
        </p:nvSpPr>
        <p:spPr>
          <a:xfrm>
            <a:off x="636763" y="3323572"/>
            <a:ext cx="3820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303B8F"/>
                </a:solidFill>
                <a:latin typeface="+mn-ea"/>
              </a:rPr>
              <a:t>快速入门教程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111094-87C7-49F9-8902-F79DCBDC0661}"/>
              </a:ext>
            </a:extLst>
          </p:cNvPr>
          <p:cNvSpPr txBox="1"/>
          <p:nvPr/>
        </p:nvSpPr>
        <p:spPr>
          <a:xfrm>
            <a:off x="611878" y="2228671"/>
            <a:ext cx="5819222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sz="7200">
                <a:solidFill>
                  <a:srgbClr val="FFC000"/>
                </a:solidFill>
                <a:latin typeface="+mj-ea"/>
                <a:ea typeface="+mj-ea"/>
              </a:rPr>
              <a:t>51</a:t>
            </a:r>
            <a:r>
              <a:rPr lang="zh-CN" altLang="en-US" sz="7200">
                <a:solidFill>
                  <a:srgbClr val="FFC000"/>
                </a:solidFill>
                <a:latin typeface="+mj-ea"/>
                <a:ea typeface="+mj-ea"/>
              </a:rPr>
              <a:t>单片机开发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D57C032-3659-4D5C-8BF2-176481FB0039}"/>
              </a:ext>
            </a:extLst>
          </p:cNvPr>
          <p:cNvSpPr txBox="1"/>
          <p:nvPr/>
        </p:nvSpPr>
        <p:spPr>
          <a:xfrm>
            <a:off x="636763" y="1888008"/>
            <a:ext cx="4279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accent1">
                    <a:lumMod val="75000"/>
                  </a:schemeClr>
                </a:solidFill>
                <a:latin typeface="+mn-ea"/>
              </a:rPr>
              <a:t>51 Microcontroller Development</a:t>
            </a:r>
            <a:endParaRPr lang="zh-CN" altLang="en-US" sz="20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E2180FE-7DFA-4CD4-8111-B52D2276A1E0}"/>
              </a:ext>
            </a:extLst>
          </p:cNvPr>
          <p:cNvSpPr txBox="1"/>
          <p:nvPr/>
        </p:nvSpPr>
        <p:spPr>
          <a:xfrm>
            <a:off x="4457040" y="3462751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Quick Start</a:t>
            </a:r>
          </a:p>
          <a:p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+mn-ea"/>
              </a:rPr>
              <a:t>Tutorial</a:t>
            </a:r>
            <a:endParaRPr lang="zh-CN" altLang="en-US" sz="140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1B43FB6-E68B-4CE2-8232-8B98B533EBBB}"/>
              </a:ext>
            </a:extLst>
          </p:cNvPr>
          <p:cNvSpPr txBox="1"/>
          <p:nvPr/>
        </p:nvSpPr>
        <p:spPr>
          <a:xfrm>
            <a:off x="995397" y="4172950"/>
            <a:ext cx="3910593" cy="68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spc="120"/>
              <a:t>第</a:t>
            </a:r>
            <a:r>
              <a:rPr lang="en-US" altLang="zh-CN" sz="3200" spc="120"/>
              <a:t>4</a:t>
            </a:r>
            <a:r>
              <a:rPr lang="zh-CN" altLang="en-US" sz="3200" spc="120"/>
              <a:t>章 独立按键输入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18F9E34-75A3-434E-94DC-4D4B7092AEA6}"/>
              </a:ext>
            </a:extLst>
          </p:cNvPr>
          <p:cNvCxnSpPr/>
          <p:nvPr/>
        </p:nvCxnSpPr>
        <p:spPr>
          <a:xfrm>
            <a:off x="754383" y="4312966"/>
            <a:ext cx="0" cy="540084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A411BE95-8B2B-4FDC-A0B5-5D4943180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37" y="1037273"/>
            <a:ext cx="3336566" cy="420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18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5991193" cy="1739256"/>
                <a:chOff x="-15896" y="866380"/>
                <a:chExt cx="5991193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5638082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按键检测原理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4.1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600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5562741" cy="904715"/>
            <a:chOff x="482600" y="439828"/>
            <a:chExt cx="556274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55627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按键工作原理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&amp;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编程方法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18902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KEY &amp; Programming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1" name="PA-文本框 5">
            <a:extLst>
              <a:ext uri="{FF2B5EF4-FFF2-40B4-BE49-F238E27FC236}">
                <a16:creationId xmlns:a16="http://schemas.microsoft.com/office/drawing/2014/main" id="{E60209C7-F0CF-452E-9A6B-1250BB5885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90239" y="5009130"/>
            <a:ext cx="6284069" cy="7094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 algn="ctr"/>
            <a:r>
              <a:rPr lang="zh-CN" altLang="zh-CN" sz="1600"/>
              <a:t>当按键未按下时，输入芯片引脚的电平为高电平；</a:t>
            </a:r>
            <a:endParaRPr lang="en-US" altLang="zh-CN" sz="1600"/>
          </a:p>
          <a:p>
            <a:pPr algn="ctr"/>
            <a:r>
              <a:rPr lang="zh-CN" altLang="zh-CN" sz="1600"/>
              <a:t>按键按下时，输入芯片引脚上的电平为低电平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F768885-3FE7-4016-8EC5-6F32EDA63A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1781777"/>
          <a:ext cx="7606961" cy="302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Visio" r:id="rId8" imgW="1807535" imgH="719454" progId="Visio.Drawing.11">
                  <p:embed/>
                </p:oleObj>
              </mc:Choice>
              <mc:Fallback>
                <p:oleObj name="Visio" r:id="rId8" imgW="1807535" imgH="719454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F768885-3FE7-4016-8EC5-6F32EDA63A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1781777"/>
                        <a:ext cx="7606961" cy="3023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3863C49-6693-4FE9-B769-FCE201F7B564}"/>
              </a:ext>
            </a:extLst>
          </p:cNvPr>
          <p:cNvSpPr/>
          <p:nvPr/>
        </p:nvSpPr>
        <p:spPr>
          <a:xfrm>
            <a:off x="8528848" y="2640148"/>
            <a:ext cx="2609322" cy="3748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sbit KEY1 = P3^2;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PA-文本框 5">
            <a:extLst>
              <a:ext uri="{FF2B5EF4-FFF2-40B4-BE49-F238E27FC236}">
                <a16:creationId xmlns:a16="http://schemas.microsoft.com/office/drawing/2014/main" id="{DD29853B-4D60-46FC-B11C-72AE04A5A15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424154" y="2161156"/>
            <a:ext cx="1937176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位定义</a:t>
            </a:r>
            <a:r>
              <a:rPr lang="en-US" altLang="zh-CN" sz="1600"/>
              <a:t>KEY1</a:t>
            </a:r>
            <a:endParaRPr lang="zh-CN" altLang="zh-CN" sz="16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5089B6-9A3F-4122-9EAD-7B81F57A675F}"/>
              </a:ext>
            </a:extLst>
          </p:cNvPr>
          <p:cNvSpPr/>
          <p:nvPr/>
        </p:nvSpPr>
        <p:spPr>
          <a:xfrm>
            <a:off x="8528848" y="3579099"/>
            <a:ext cx="2609322" cy="1125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if ( 0==KEY1 )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……//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按键按下处理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zh-CN" alt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PA-文本框 5">
            <a:extLst>
              <a:ext uri="{FF2B5EF4-FFF2-40B4-BE49-F238E27FC236}">
                <a16:creationId xmlns:a16="http://schemas.microsoft.com/office/drawing/2014/main" id="{5C7E2CD0-36CB-4730-86D1-DA9BD26FACF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424154" y="3114552"/>
            <a:ext cx="2472446" cy="3893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r>
              <a:rPr lang="zh-CN" altLang="en-US" sz="1600"/>
              <a:t>判断按键是否被按下</a:t>
            </a:r>
            <a:endParaRPr lang="zh-CN" altLang="zh-CN" sz="1600"/>
          </a:p>
        </p:txBody>
      </p:sp>
      <p:sp>
        <p:nvSpPr>
          <p:cNvPr id="17" name="PA-文本框 4">
            <a:extLst>
              <a:ext uri="{FF2B5EF4-FFF2-40B4-BE49-F238E27FC236}">
                <a16:creationId xmlns:a16="http://schemas.microsoft.com/office/drawing/2014/main" id="{E0F99D35-E5BB-432F-8441-C39585943EA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424154" y="1724860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编程方法</a:t>
            </a:r>
          </a:p>
        </p:txBody>
      </p:sp>
    </p:spTree>
    <p:extLst>
      <p:ext uri="{BB962C8B-B14F-4D97-AF65-F5344CB8AC3E}">
        <p14:creationId xmlns:p14="http://schemas.microsoft.com/office/powerpoint/2010/main" val="50065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7808998" cy="1739256"/>
                <a:chOff x="-15896" y="866380"/>
                <a:chExt cx="7808998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7455887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按键软件去抖原理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4.2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8588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3214341" cy="904715"/>
            <a:chOff x="482600" y="439828"/>
            <a:chExt cx="3214341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321434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按键消抖原理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18902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KEY &amp; Programming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A3863C49-6693-4FE9-B769-FCE201F7B564}"/>
              </a:ext>
            </a:extLst>
          </p:cNvPr>
          <p:cNvSpPr/>
          <p:nvPr/>
        </p:nvSpPr>
        <p:spPr>
          <a:xfrm>
            <a:off x="7324929" y="1967517"/>
            <a:ext cx="4309352" cy="31281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if(0 == KEY1)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第一次检测到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KEY1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按键被按下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DelayNms(50);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等待约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50ms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后再次检测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if(0 == KEY1)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{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      ……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确定按键被按下</a:t>
            </a:r>
          </a:p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else if(1 == KEY1)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{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       ……            //</a:t>
            </a:r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按键没有被按下</a:t>
            </a:r>
          </a:p>
          <a:p>
            <a:pPr indent="361950"/>
            <a:r>
              <a:rPr lang="zh-CN" altLang="en-US" sz="140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  <a:p>
            <a:pPr indent="361950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17" name="PA-文本框 4">
            <a:extLst>
              <a:ext uri="{FF2B5EF4-FFF2-40B4-BE49-F238E27FC236}">
                <a16:creationId xmlns:a16="http://schemas.microsoft.com/office/drawing/2014/main" id="{E0F99D35-E5BB-432F-8441-C39585943E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324928" y="1559490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编程方法</a:t>
            </a:r>
          </a:p>
        </p:txBody>
      </p:sp>
      <p:pic>
        <p:nvPicPr>
          <p:cNvPr id="12" name="图片 11" descr="5t4">
            <a:extLst>
              <a:ext uri="{FF2B5EF4-FFF2-40B4-BE49-F238E27FC236}">
                <a16:creationId xmlns:a16="http://schemas.microsoft.com/office/drawing/2014/main" id="{B296F7C9-02F8-4B37-A266-86115359F2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29" y="1674431"/>
            <a:ext cx="5283571" cy="2975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893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825557E-601A-41F5-BDB7-613F85FA87E2}"/>
              </a:ext>
            </a:extLst>
          </p:cNvPr>
          <p:cNvGrpSpPr/>
          <p:nvPr/>
        </p:nvGrpSpPr>
        <p:grpSpPr>
          <a:xfrm>
            <a:off x="482600" y="1543767"/>
            <a:ext cx="11226800" cy="3770466"/>
            <a:chOff x="482600" y="981075"/>
            <a:chExt cx="11226800" cy="3770466"/>
          </a:xfrm>
        </p:grpSpPr>
        <p:sp>
          <p:nvSpPr>
            <p:cNvPr id="2" name="矩形: 对角圆角 1">
              <a:extLst>
                <a:ext uri="{FF2B5EF4-FFF2-40B4-BE49-F238E27FC236}">
                  <a16:creationId xmlns:a16="http://schemas.microsoft.com/office/drawing/2014/main" id="{10B588B5-A5A0-428D-9822-DA726FB33C99}"/>
                </a:ext>
              </a:extLst>
            </p:cNvPr>
            <p:cNvSpPr/>
            <p:nvPr/>
          </p:nvSpPr>
          <p:spPr>
            <a:xfrm>
              <a:off x="482600" y="981075"/>
              <a:ext cx="11226800" cy="3691072"/>
            </a:xfrm>
            <a:prstGeom prst="round2DiagRect">
              <a:avLst/>
            </a:prstGeom>
            <a:solidFill>
              <a:schemeClr val="bg1"/>
            </a:solidFill>
            <a:ln>
              <a:gradFill>
                <a:gsLst>
                  <a:gs pos="45000">
                    <a:schemeClr val="accent2"/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127000" dist="635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DD4C794-7A83-4673-A011-F182F8491995}"/>
                </a:ext>
              </a:extLst>
            </p:cNvPr>
            <p:cNvGrpSpPr/>
            <p:nvPr/>
          </p:nvGrpSpPr>
          <p:grpSpPr>
            <a:xfrm>
              <a:off x="507793" y="1280160"/>
              <a:ext cx="10860738" cy="3471381"/>
              <a:chOff x="443388" y="1280160"/>
              <a:chExt cx="10860738" cy="3471381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7861F16-9885-4D93-8329-EF04DC49B9D7}"/>
                  </a:ext>
                </a:extLst>
              </p:cNvPr>
              <p:cNvGrpSpPr/>
              <p:nvPr/>
            </p:nvGrpSpPr>
            <p:grpSpPr>
              <a:xfrm>
                <a:off x="443388" y="1370293"/>
                <a:ext cx="6900096" cy="1739256"/>
                <a:chOff x="-15896" y="866380"/>
                <a:chExt cx="6900096" cy="1739256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1A3B8B6-46FC-4E85-9FBF-535782AF2AE4}"/>
                    </a:ext>
                  </a:extLst>
                </p:cNvPr>
                <p:cNvSpPr txBox="1"/>
                <p:nvPr/>
              </p:nvSpPr>
              <p:spPr>
                <a:xfrm>
                  <a:off x="337215" y="1405307"/>
                  <a:ext cx="6546985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solidFill>
                        <a:schemeClr val="accent1"/>
                      </a:solidFill>
                      <a:latin typeface="+mj-ea"/>
                      <a:ea typeface="+mj-ea"/>
                    </a:rPr>
                    <a:t>实例与代码解析</a:t>
                  </a: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B10E2737-D3EA-4121-98D2-DDEDE22C7214}"/>
                    </a:ext>
                  </a:extLst>
                </p:cNvPr>
                <p:cNvSpPr txBox="1"/>
                <p:nvPr/>
              </p:nvSpPr>
              <p:spPr>
                <a:xfrm>
                  <a:off x="-15896" y="866380"/>
                  <a:ext cx="1093569" cy="120032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7200">
                      <a:ln>
                        <a:solidFill>
                          <a:schemeClr val="accent1"/>
                        </a:solidFill>
                      </a:ln>
                      <a:noFill/>
                      <a:latin typeface="+mj-ea"/>
                      <a:ea typeface="+mj-ea"/>
                    </a:rPr>
                    <a:t>“</a:t>
                  </a: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342D13-453A-4B14-BAAD-97B4A2AA40D0}"/>
                  </a:ext>
                </a:extLst>
              </p:cNvPr>
              <p:cNvSpPr txBox="1"/>
              <p:nvPr/>
            </p:nvSpPr>
            <p:spPr>
              <a:xfrm>
                <a:off x="719441" y="3551212"/>
                <a:ext cx="1579278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7200">
                    <a:ln w="3175">
                      <a:solidFill>
                        <a:schemeClr val="accent1"/>
                      </a:solidFill>
                    </a:ln>
                    <a:blipFill>
                      <a:blip r:embed="rId3"/>
                      <a:stretch>
                        <a:fillRect/>
                      </a:stretch>
                    </a:blipFill>
                    <a:latin typeface="+mj-ea"/>
                    <a:ea typeface="+mj-ea"/>
                  </a:rPr>
                  <a:t>4.3</a:t>
                </a:r>
                <a:endParaRPr lang="zh-CN" altLang="en-US" sz="7200">
                  <a:ln w="3175">
                    <a:solidFill>
                      <a:schemeClr val="accent1"/>
                    </a:solidFill>
                  </a:ln>
                  <a:blipFill>
                    <a:blip r:embed="rId3"/>
                    <a:stretch>
                      <a:fillRect/>
                    </a:stretch>
                  </a:blipFill>
                  <a:latin typeface="+mj-ea"/>
                  <a:ea typeface="+mj-ea"/>
                </a:endParaRP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79BCB92C-26C8-47AE-83C4-E0E6001359C6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 flipV="1">
                <a:off x="2863479" y="4429529"/>
                <a:ext cx="6652087" cy="7777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F3BDCD70-4ED7-4B58-B4EA-97B5766A2ED8}"/>
                  </a:ext>
                </a:extLst>
              </p:cNvPr>
              <p:cNvGrpSpPr/>
              <p:nvPr/>
            </p:nvGrpSpPr>
            <p:grpSpPr>
              <a:xfrm>
                <a:off x="2863479" y="4125108"/>
                <a:ext cx="1685737" cy="192317"/>
                <a:chOff x="2205551" y="1812089"/>
                <a:chExt cx="952517" cy="108668"/>
              </a:xfrm>
            </p:grpSpPr>
            <p:sp>
              <p:nvSpPr>
                <p:cNvPr id="28" name="等腰三角形 27">
                  <a:extLst>
                    <a:ext uri="{FF2B5EF4-FFF2-40B4-BE49-F238E27FC236}">
                      <a16:creationId xmlns:a16="http://schemas.microsoft.com/office/drawing/2014/main" id="{1716C571-C917-4278-9C5E-B42CBAA662AC}"/>
                    </a:ext>
                  </a:extLst>
                </p:cNvPr>
                <p:cNvSpPr/>
                <p:nvPr/>
              </p:nvSpPr>
              <p:spPr>
                <a:xfrm rot="5400000" flipH="1">
                  <a:off x="2198057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等腰三角形 28">
                  <a:extLst>
                    <a:ext uri="{FF2B5EF4-FFF2-40B4-BE49-F238E27FC236}">
                      <a16:creationId xmlns:a16="http://schemas.microsoft.com/office/drawing/2014/main" id="{84945E56-71FD-4574-B8AF-0AB9430B87F1}"/>
                    </a:ext>
                  </a:extLst>
                </p:cNvPr>
                <p:cNvSpPr/>
                <p:nvPr/>
              </p:nvSpPr>
              <p:spPr>
                <a:xfrm rot="5400000" flipH="1">
                  <a:off x="236982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等腰三角形 29">
                  <a:extLst>
                    <a:ext uri="{FF2B5EF4-FFF2-40B4-BE49-F238E27FC236}">
                      <a16:creationId xmlns:a16="http://schemas.microsoft.com/office/drawing/2014/main" id="{DB47E230-B6F4-445D-83D6-319866970D69}"/>
                    </a:ext>
                  </a:extLst>
                </p:cNvPr>
                <p:cNvSpPr/>
                <p:nvPr/>
              </p:nvSpPr>
              <p:spPr>
                <a:xfrm rot="5400000" flipH="1">
                  <a:off x="2541593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等腰三角形 30">
                  <a:extLst>
                    <a:ext uri="{FF2B5EF4-FFF2-40B4-BE49-F238E27FC236}">
                      <a16:creationId xmlns:a16="http://schemas.microsoft.com/office/drawing/2014/main" id="{0AE4CDED-8F3C-41C3-A316-F899AB2117F2}"/>
                    </a:ext>
                  </a:extLst>
                </p:cNvPr>
                <p:cNvSpPr/>
                <p:nvPr/>
              </p:nvSpPr>
              <p:spPr>
                <a:xfrm rot="5400000" flipH="1">
                  <a:off x="2713361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等腰三角形 31">
                  <a:extLst>
                    <a:ext uri="{FF2B5EF4-FFF2-40B4-BE49-F238E27FC236}">
                      <a16:creationId xmlns:a16="http://schemas.microsoft.com/office/drawing/2014/main" id="{9379EE45-C7FC-47D7-A570-2F20CBDCD51F}"/>
                    </a:ext>
                  </a:extLst>
                </p:cNvPr>
                <p:cNvSpPr/>
                <p:nvPr/>
              </p:nvSpPr>
              <p:spPr>
                <a:xfrm rot="5400000" flipH="1">
                  <a:off x="2885129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等腰三角形 32">
                  <a:extLst>
                    <a:ext uri="{FF2B5EF4-FFF2-40B4-BE49-F238E27FC236}">
                      <a16:creationId xmlns:a16="http://schemas.microsoft.com/office/drawing/2014/main" id="{8B93F476-0A58-4409-BDB9-B42AC0947C35}"/>
                    </a:ext>
                  </a:extLst>
                </p:cNvPr>
                <p:cNvSpPr/>
                <p:nvPr/>
              </p:nvSpPr>
              <p:spPr>
                <a:xfrm rot="5400000" flipH="1">
                  <a:off x="3056895" y="1819583"/>
                  <a:ext cx="108668" cy="93679"/>
                </a:xfrm>
                <a:prstGeom prst="triangle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D456A9-D5DA-4A6D-A38F-2A29E2192823}"/>
                  </a:ext>
                </a:extLst>
              </p:cNvPr>
              <p:cNvSpPr txBox="1"/>
              <p:nvPr/>
            </p:nvSpPr>
            <p:spPr>
              <a:xfrm>
                <a:off x="9515566" y="4275640"/>
                <a:ext cx="178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140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 </a:t>
                </a:r>
                <a:endParaRPr lang="zh-CN" altLang="en-US" sz="1400">
                  <a:solidFill>
                    <a:schemeClr val="accent1">
                      <a:lumMod val="7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A1FE248-5B87-4FEC-A06B-8EC2FA06E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99027" y="1280160"/>
                <a:ext cx="0" cy="2961161"/>
              </a:xfrm>
              <a:prstGeom prst="line">
                <a:avLst/>
              </a:prstGeom>
              <a:ln w="9525" cap="rnd">
                <a:solidFill>
                  <a:schemeClr val="accent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61121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AC8C24B-971B-46A9-BB3A-8E03D9749CB2}"/>
              </a:ext>
            </a:extLst>
          </p:cNvPr>
          <p:cNvGrpSpPr/>
          <p:nvPr/>
        </p:nvGrpSpPr>
        <p:grpSpPr>
          <a:xfrm>
            <a:off x="482600" y="439828"/>
            <a:ext cx="4501553" cy="904715"/>
            <a:chOff x="482600" y="439828"/>
            <a:chExt cx="4501553" cy="90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345156-5EBA-4102-AE2A-79169B096F14}"/>
                </a:ext>
              </a:extLst>
            </p:cNvPr>
            <p:cNvSpPr txBox="1"/>
            <p:nvPr/>
          </p:nvSpPr>
          <p:spPr>
            <a:xfrm>
              <a:off x="482600" y="636657"/>
              <a:ext cx="45015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实例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-</a:t>
              </a:r>
              <a:r>
                <a:rPr lang="zh-CN" altLang="en-US" sz="4000">
                  <a:solidFill>
                    <a:schemeClr val="accent1"/>
                  </a:solidFill>
                  <a:latin typeface="+mj-ea"/>
                  <a:ea typeface="+mj-ea"/>
                </a:rPr>
                <a:t>按键控制</a:t>
              </a:r>
              <a:r>
                <a:rPr lang="en-US" altLang="zh-CN" sz="4000">
                  <a:solidFill>
                    <a:schemeClr val="accent1"/>
                  </a:solidFill>
                  <a:latin typeface="+mj-ea"/>
                  <a:ea typeface="+mj-ea"/>
                </a:rPr>
                <a:t>LED</a:t>
              </a:r>
              <a:endParaRPr lang="zh-CN" altLang="en-US" sz="400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3FD2742-9550-4D58-9FBF-434D1920F8B9}"/>
                </a:ext>
              </a:extLst>
            </p:cNvPr>
            <p:cNvSpPr txBox="1"/>
            <p:nvPr/>
          </p:nvSpPr>
          <p:spPr>
            <a:xfrm>
              <a:off x="482600" y="439828"/>
              <a:ext cx="9220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Example</a:t>
              </a: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</p:grpSp>
      <p:sp>
        <p:nvSpPr>
          <p:cNvPr id="10" name="PA-文本框 5">
            <a:extLst>
              <a:ext uri="{FF2B5EF4-FFF2-40B4-BE49-F238E27FC236}">
                <a16:creationId xmlns:a16="http://schemas.microsoft.com/office/drawing/2014/main" id="{F30F2B45-C872-4B36-AA3D-54EDD20580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983802" y="2510517"/>
            <a:ext cx="3823012" cy="13540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spc="120"/>
            </a:lvl1pPr>
          </a:lstStyle>
          <a:p>
            <a:pPr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）位定义按键。</a:t>
            </a:r>
          </a:p>
          <a:p>
            <a:pPr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2</a:t>
            </a:r>
            <a:r>
              <a:rPr lang="zh-CN" altLang="zh-CN"/>
              <a:t>）编写延时函数。</a:t>
            </a:r>
          </a:p>
          <a:p>
            <a:pPr>
              <a:lnSpc>
                <a:spcPct val="150000"/>
              </a:lnSpc>
            </a:pPr>
            <a:r>
              <a:rPr lang="zh-CN" altLang="zh-CN"/>
              <a:t>（</a:t>
            </a:r>
            <a:r>
              <a:rPr lang="en-US" altLang="zh-CN"/>
              <a:t>3</a:t>
            </a:r>
            <a:r>
              <a:rPr lang="zh-CN" altLang="zh-CN"/>
              <a:t>）对每一个按键进行判断并消抖，执行对应的按键处理语句。</a:t>
            </a:r>
          </a:p>
        </p:txBody>
      </p:sp>
      <p:sp>
        <p:nvSpPr>
          <p:cNvPr id="11" name="PA-文本框 4">
            <a:extLst>
              <a:ext uri="{FF2B5EF4-FFF2-40B4-BE49-F238E27FC236}">
                <a16:creationId xmlns:a16="http://schemas.microsoft.com/office/drawing/2014/main" id="{877E1089-34A3-48A6-B278-56FBAA1936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082062" y="1991151"/>
            <a:ext cx="1191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000"/>
              <a:t>编程要点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4C138B-196D-461B-B1F4-BE775FB73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553" y="255837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FDD2B06-CC25-4EA0-9205-A9A65ABC3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7781192"/>
              </p:ext>
            </p:extLst>
          </p:nvPr>
        </p:nvGraphicFramePr>
        <p:xfrm>
          <a:off x="478084" y="1824037"/>
          <a:ext cx="7269196" cy="3827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Visio" r:id="rId6" imgW="4456743" imgH="2368767" progId="Visio.Drawing.11">
                  <p:embed/>
                </p:oleObj>
              </mc:Choice>
              <mc:Fallback>
                <p:oleObj name="Visio" r:id="rId6" imgW="4456743" imgH="2368767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084" y="1824037"/>
                        <a:ext cx="7269196" cy="38276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859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替换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303B8F"/>
      </a:accent1>
      <a:accent2>
        <a:srgbClr val="FE7F6E"/>
      </a:accent2>
      <a:accent3>
        <a:srgbClr val="CCD1E4"/>
      </a:accent3>
      <a:accent4>
        <a:srgbClr val="FEECE9"/>
      </a:accent4>
      <a:accent5>
        <a:srgbClr val="FFF4EF"/>
      </a:accent5>
      <a:accent6>
        <a:srgbClr val="62A39F"/>
      </a:accent6>
      <a:hlink>
        <a:srgbClr val="6EAC1C"/>
      </a:hlink>
      <a:folHlink>
        <a:srgbClr val="B26B02"/>
      </a:folHlink>
    </a:clrScheme>
    <a:fontScheme name="Ali">
      <a:majorFont>
        <a:latin typeface="优设好身体"/>
        <a:ea typeface="阿里巴巴普惠体 B"/>
        <a:cs typeface=""/>
      </a:majorFont>
      <a:minorFont>
        <a:latin typeface="优设好身体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2784</TotalTime>
  <Words>228</Words>
  <Application>Microsoft Office PowerPoint</Application>
  <PresentationFormat>宽屏</PresentationFormat>
  <Paragraphs>58</Paragraphs>
  <Slides>7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阿里巴巴普惠体 B</vt:lpstr>
      <vt:lpstr>阿里巴巴普惠体 R</vt:lpstr>
      <vt:lpstr>等线</vt:lpstr>
      <vt:lpstr>优设好身体</vt:lpstr>
      <vt:lpstr>Arial</vt:lpstr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 SuiTinG</dc:creator>
  <cp:lastModifiedBy>健辉 李</cp:lastModifiedBy>
  <cp:revision>68</cp:revision>
  <dcterms:created xsi:type="dcterms:W3CDTF">2022-04-22T12:30:54Z</dcterms:created>
  <dcterms:modified xsi:type="dcterms:W3CDTF">2023-04-06T03:11:21Z</dcterms:modified>
</cp:coreProperties>
</file>