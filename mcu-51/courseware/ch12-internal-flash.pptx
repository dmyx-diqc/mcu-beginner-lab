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9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7.xml" ContentType="application/vnd.openxmlformats-officedocument.presentationml.notesSlide+xml"/>
  <Override PartName="/ppt/tags/tag43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04" r:id="rId3"/>
    <p:sldId id="320" r:id="rId4"/>
    <p:sldId id="395" r:id="rId5"/>
    <p:sldId id="369" r:id="rId6"/>
    <p:sldId id="396" r:id="rId7"/>
    <p:sldId id="370" r:id="rId8"/>
    <p:sldId id="373" r:id="rId9"/>
    <p:sldId id="401" r:id="rId10"/>
    <p:sldId id="398" r:id="rId11"/>
    <p:sldId id="400" r:id="rId12"/>
    <p:sldId id="391" r:id="rId13"/>
    <p:sldId id="402" r:id="rId14"/>
    <p:sldId id="404" r:id="rId15"/>
    <p:sldId id="403" r:id="rId16"/>
    <p:sldId id="405" r:id="rId17"/>
    <p:sldId id="314" r:id="rId18"/>
    <p:sldId id="313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orient="horz" pos="572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4056" userDrawn="1">
          <p15:clr>
            <a:srgbClr val="A4A3A4"/>
          </p15:clr>
        </p15:guide>
        <p15:guide id="8" orient="horz" pos="3992" userDrawn="1">
          <p15:clr>
            <a:srgbClr val="A4A3A4"/>
          </p15:clr>
        </p15:guide>
        <p15:guide id="9" orient="horz" pos="3339" userDrawn="1">
          <p15:clr>
            <a:srgbClr val="A4A3A4"/>
          </p15:clr>
        </p15:guide>
        <p15:guide id="10" pos="52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9C4"/>
    <a:srgbClr val="FDFCFA"/>
    <a:srgbClr val="FFC000"/>
    <a:srgbClr val="CCD1E4"/>
    <a:srgbClr val="FEECE9"/>
    <a:srgbClr val="303B8F"/>
    <a:srgbClr val="FEFCFA"/>
    <a:srgbClr val="FE7F6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4005" autoAdjust="0"/>
  </p:normalViewPr>
  <p:slideViewPr>
    <p:cSldViewPr snapToGrid="0" showGuides="1">
      <p:cViewPr varScale="1">
        <p:scale>
          <a:sx n="98" d="100"/>
          <a:sy n="98" d="100"/>
        </p:scale>
        <p:origin x="156" y="108"/>
      </p:cViewPr>
      <p:guideLst>
        <p:guide orient="horz" pos="2296"/>
        <p:guide pos="3863"/>
        <p:guide pos="279"/>
        <p:guide pos="7378"/>
        <p:guide orient="horz" pos="572"/>
        <p:guide orient="horz" pos="618"/>
        <p:guide orient="horz" pos="4056"/>
        <p:guide orient="horz" pos="3992"/>
        <p:guide orient="horz" pos="3339"/>
        <p:guide pos="52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B6F5A-1C90-49E3-B006-EB0C9DD899DA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82636-17AD-46C0-A806-1A7224D9A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3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534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392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1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849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399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73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267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478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226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758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849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892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211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199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338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455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106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52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6963DBC-52F0-4A99-941A-6A1E022B9F21}"/>
              </a:ext>
            </a:extLst>
          </p:cNvPr>
          <p:cNvSpPr/>
          <p:nvPr/>
        </p:nvSpPr>
        <p:spPr>
          <a:xfrm>
            <a:off x="0" y="6337300"/>
            <a:ext cx="121920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3D5394-5F8D-492B-9810-0078F1946908}"/>
              </a:ext>
            </a:extLst>
          </p:cNvPr>
          <p:cNvSpPr txBox="1"/>
          <p:nvPr userDrawn="1"/>
        </p:nvSpPr>
        <p:spPr>
          <a:xfrm>
            <a:off x="379279" y="6459150"/>
            <a:ext cx="85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20">
                <a:solidFill>
                  <a:schemeClr val="bg1">
                    <a:alpha val="60000"/>
                  </a:schemeClr>
                </a:solidFill>
                <a:latin typeface="+mn-ea"/>
              </a:rPr>
              <a:t>Leyutek</a:t>
            </a:r>
            <a:endParaRPr lang="zh-CN" altLang="en-US" sz="1200" spc="120">
              <a:solidFill>
                <a:schemeClr val="bg1">
                  <a:alpha val="60000"/>
                </a:schemeClr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FFCFC8C-F3FE-49E9-8D4B-6621397DE6E0}"/>
              </a:ext>
            </a:extLst>
          </p:cNvPr>
          <p:cNvGrpSpPr/>
          <p:nvPr/>
        </p:nvGrpSpPr>
        <p:grpSpPr>
          <a:xfrm>
            <a:off x="-1474229" y="-1350932"/>
            <a:ext cx="2502566" cy="2502570"/>
            <a:chOff x="-1251283" y="-1168764"/>
            <a:chExt cx="2502566" cy="250257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1343C64-1C49-4FA6-A78C-70B60A2A477C}"/>
                </a:ext>
              </a:extLst>
            </p:cNvPr>
            <p:cNvSpPr/>
            <p:nvPr/>
          </p:nvSpPr>
          <p:spPr>
            <a:xfrm>
              <a:off x="-505529" y="-423009"/>
              <a:ext cx="1011060" cy="1011062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74A0836-E0E7-4463-BA66-9D4360945DA0}"/>
                </a:ext>
              </a:extLst>
            </p:cNvPr>
            <p:cNvSpPr/>
            <p:nvPr/>
          </p:nvSpPr>
          <p:spPr>
            <a:xfrm>
              <a:off x="-691966" y="-609448"/>
              <a:ext cx="1383936" cy="1383939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425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47DAB21-0126-40B2-9AAE-831F71583619}"/>
                </a:ext>
              </a:extLst>
            </p:cNvPr>
            <p:cNvSpPr/>
            <p:nvPr/>
          </p:nvSpPr>
          <p:spPr>
            <a:xfrm>
              <a:off x="-878405" y="-795886"/>
              <a:ext cx="1756814" cy="1756817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3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6307FD1-C6B8-4BE2-976A-91863E9EBB71}"/>
                </a:ext>
              </a:extLst>
            </p:cNvPr>
            <p:cNvSpPr/>
            <p:nvPr/>
          </p:nvSpPr>
          <p:spPr>
            <a:xfrm>
              <a:off x="-1064844" y="-982325"/>
              <a:ext cx="2129690" cy="2129693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275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2ADF5C0-D11E-48DB-875A-2FCC66DC22AC}"/>
                </a:ext>
              </a:extLst>
            </p:cNvPr>
            <p:cNvSpPr/>
            <p:nvPr/>
          </p:nvSpPr>
          <p:spPr>
            <a:xfrm>
              <a:off x="-1251283" y="-1168764"/>
              <a:ext cx="2502566" cy="2502570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0FD2C978-7471-4A72-96E3-685B10FC6250}"/>
              </a:ext>
            </a:extLst>
          </p:cNvPr>
          <p:cNvSpPr/>
          <p:nvPr userDrawn="1"/>
        </p:nvSpPr>
        <p:spPr>
          <a:xfrm>
            <a:off x="0" y="6096000"/>
            <a:ext cx="12192000" cy="241300"/>
          </a:xfrm>
          <a:prstGeom prst="rect">
            <a:avLst/>
          </a:prstGeom>
          <a:solidFill>
            <a:srgbClr val="FAE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22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B8AC99A-568E-45B6-9DB0-75E736C4FD40}"/>
              </a:ext>
            </a:extLst>
          </p:cNvPr>
          <p:cNvSpPr/>
          <p:nvPr userDrawn="1"/>
        </p:nvSpPr>
        <p:spPr>
          <a:xfrm>
            <a:off x="-299280" y="521642"/>
            <a:ext cx="781880" cy="12808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76200" dist="508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A607FCE-E8A1-4B38-A62F-AB994050E9C6}"/>
              </a:ext>
            </a:extLst>
          </p:cNvPr>
          <p:cNvSpPr/>
          <p:nvPr userDrawn="1"/>
        </p:nvSpPr>
        <p:spPr>
          <a:xfrm>
            <a:off x="-594293" y="774700"/>
            <a:ext cx="1076893" cy="3604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76200" dist="508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3A1752-8A7B-4110-961C-FF10BC1885B4}"/>
              </a:ext>
            </a:extLst>
          </p:cNvPr>
          <p:cNvSpPr/>
          <p:nvPr userDrawn="1"/>
        </p:nvSpPr>
        <p:spPr>
          <a:xfrm>
            <a:off x="0" y="6337300"/>
            <a:ext cx="121920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3F4091-0FCB-4F98-A6CD-3498D323DD97}"/>
              </a:ext>
            </a:extLst>
          </p:cNvPr>
          <p:cNvSpPr txBox="1"/>
          <p:nvPr/>
        </p:nvSpPr>
        <p:spPr>
          <a:xfrm>
            <a:off x="379279" y="6459150"/>
            <a:ext cx="85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20" err="1">
                <a:solidFill>
                  <a:schemeClr val="bg1">
                    <a:alpha val="60000"/>
                  </a:schemeClr>
                </a:solidFill>
                <a:latin typeface="+mn-ea"/>
              </a:rPr>
              <a:t>Leyutek</a:t>
            </a:r>
            <a:endParaRPr lang="zh-CN" altLang="en-US" sz="1200" spc="120">
              <a:solidFill>
                <a:schemeClr val="bg1">
                  <a:alpha val="60000"/>
                </a:schemeClr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177331-F4A1-48BE-A9EA-C706B51AB294}"/>
              </a:ext>
            </a:extLst>
          </p:cNvPr>
          <p:cNvSpPr/>
          <p:nvPr userDrawn="1"/>
        </p:nvSpPr>
        <p:spPr>
          <a:xfrm>
            <a:off x="0" y="6096000"/>
            <a:ext cx="12192000" cy="241300"/>
          </a:xfrm>
          <a:prstGeom prst="rect">
            <a:avLst/>
          </a:prstGeom>
          <a:solidFill>
            <a:srgbClr val="FAE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4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7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04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5" orient="horz" pos="560" userDrawn="1">
          <p15:clr>
            <a:srgbClr val="F26B43"/>
          </p15:clr>
        </p15:guide>
        <p15:guide id="6" orient="horz" pos="624" userDrawn="1">
          <p15:clr>
            <a:srgbClr val="F26B43"/>
          </p15:clr>
        </p15:guide>
        <p15:guide id="7" orient="horz" pos="4056" userDrawn="1">
          <p15:clr>
            <a:srgbClr val="F26B43"/>
          </p15:clr>
        </p15:guide>
        <p15:guide id="8" orient="horz" pos="39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3.emf"/><Relationship Id="rId2" Type="http://schemas.openxmlformats.org/officeDocument/2006/relationships/tags" Target="../tags/tag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notesSlide" Target="../notesSlides/notesSlide13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41.xml"/><Relationship Id="rId7" Type="http://schemas.openxmlformats.org/officeDocument/2006/relationships/oleObject" Target="../embeddings/oleObject2.bin"/><Relationship Id="rId2" Type="http://schemas.openxmlformats.org/officeDocument/2006/relationships/tags" Target="../tags/tag40.xml"/><Relationship Id="rId1" Type="http://schemas.openxmlformats.org/officeDocument/2006/relationships/vmlDrawing" Target="../drawings/vmlDrawing2.v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>
            <a:extLst>
              <a:ext uri="{FF2B5EF4-FFF2-40B4-BE49-F238E27FC236}">
                <a16:creationId xmlns:a16="http://schemas.microsoft.com/office/drawing/2014/main" id="{D596D725-AB69-42C2-8189-3831F5FC6D28}"/>
              </a:ext>
            </a:extLst>
          </p:cNvPr>
          <p:cNvSpPr txBox="1"/>
          <p:nvPr/>
        </p:nvSpPr>
        <p:spPr>
          <a:xfrm>
            <a:off x="969272" y="3032957"/>
            <a:ext cx="3820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303B8F"/>
                </a:solidFill>
                <a:latin typeface="+mn-ea"/>
              </a:rPr>
              <a:t>快速入门教程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0111094-87C7-49F9-8902-F79DCBDC0661}"/>
              </a:ext>
            </a:extLst>
          </p:cNvPr>
          <p:cNvSpPr txBox="1"/>
          <p:nvPr/>
        </p:nvSpPr>
        <p:spPr>
          <a:xfrm>
            <a:off x="944387" y="1938056"/>
            <a:ext cx="5819222" cy="12003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7200">
                <a:solidFill>
                  <a:srgbClr val="FFC000"/>
                </a:solidFill>
                <a:latin typeface="+mj-ea"/>
                <a:ea typeface="+mj-ea"/>
              </a:rPr>
              <a:t>51</a:t>
            </a:r>
            <a:r>
              <a:rPr lang="zh-CN" altLang="en-US" sz="7200">
                <a:solidFill>
                  <a:srgbClr val="FFC000"/>
                </a:solidFill>
                <a:latin typeface="+mj-ea"/>
                <a:ea typeface="+mj-ea"/>
              </a:rPr>
              <a:t>单片机开发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D57C032-3659-4D5C-8BF2-176481FB0039}"/>
              </a:ext>
            </a:extLst>
          </p:cNvPr>
          <p:cNvSpPr txBox="1"/>
          <p:nvPr/>
        </p:nvSpPr>
        <p:spPr>
          <a:xfrm>
            <a:off x="969272" y="1597393"/>
            <a:ext cx="4279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+mn-ea"/>
              </a:rPr>
              <a:t>51 Microcontroller Development</a:t>
            </a:r>
            <a:endParaRPr lang="zh-CN" altLang="en-US" sz="200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E2180FE-7DFA-4CD4-8111-B52D2276A1E0}"/>
              </a:ext>
            </a:extLst>
          </p:cNvPr>
          <p:cNvSpPr txBox="1"/>
          <p:nvPr/>
        </p:nvSpPr>
        <p:spPr>
          <a:xfrm>
            <a:off x="4789549" y="3172136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+mn-ea"/>
              </a:rPr>
              <a:t>Quick Start</a:t>
            </a:r>
          </a:p>
          <a:p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+mn-ea"/>
              </a:rPr>
              <a:t>Tutorial</a:t>
            </a:r>
            <a:endParaRPr lang="zh-CN" altLang="en-US" sz="140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1B43FB6-E68B-4CE2-8232-8B98B533EBBB}"/>
              </a:ext>
            </a:extLst>
          </p:cNvPr>
          <p:cNvSpPr txBox="1"/>
          <p:nvPr/>
        </p:nvSpPr>
        <p:spPr>
          <a:xfrm>
            <a:off x="1327906" y="3882335"/>
            <a:ext cx="5223027" cy="686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spc="120"/>
              <a:t>第</a:t>
            </a:r>
            <a:r>
              <a:rPr lang="en-US" altLang="zh-CN" sz="3200" spc="120"/>
              <a:t>12</a:t>
            </a:r>
            <a:r>
              <a:rPr lang="zh-CN" altLang="en-US" sz="3200" spc="120"/>
              <a:t>章 内部</a:t>
            </a:r>
            <a:r>
              <a:rPr lang="en-US" altLang="zh-CN" sz="3200" spc="120"/>
              <a:t>Flash</a:t>
            </a:r>
            <a:r>
              <a:rPr lang="zh-CN" altLang="en-US" sz="3200" spc="120"/>
              <a:t>读写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18F9E34-75A3-434E-94DC-4D4B7092AEA6}"/>
              </a:ext>
            </a:extLst>
          </p:cNvPr>
          <p:cNvCxnSpPr/>
          <p:nvPr/>
        </p:nvCxnSpPr>
        <p:spPr>
          <a:xfrm>
            <a:off x="1086892" y="4022351"/>
            <a:ext cx="0" cy="540084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A411BE95-8B2B-4FDC-A0B5-5D4943180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37" y="1037273"/>
            <a:ext cx="3336566" cy="420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02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4384984" cy="1739256"/>
                <a:chOff x="-15896" y="866380"/>
                <a:chExt cx="4384984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4031873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ISP</a:t>
                  </a:r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与</a:t>
                  </a:r>
                  <a:r>
                    <a:rPr lang="en-US" altLang="zh-CN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IAP</a:t>
                  </a:r>
                  <a:endParaRPr lang="zh-CN" altLang="en-US" sz="7200">
                    <a:solidFill>
                      <a:schemeClr val="accent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2124299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4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12.1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4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PA-文本框 5">
            <a:extLst>
              <a:ext uri="{FF2B5EF4-FFF2-40B4-BE49-F238E27FC236}">
                <a16:creationId xmlns:a16="http://schemas.microsoft.com/office/drawing/2014/main" id="{40D92A99-DEAF-4A2A-AD62-6CD4925692D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017002" y="2615893"/>
            <a:ext cx="5800463" cy="9123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en-US" altLang="zh-CN"/>
              <a:t>51</a:t>
            </a:r>
            <a:r>
              <a:rPr lang="zh-CN" altLang="en-US"/>
              <a:t>单片机编程方式根据代码下载方法不同可分为两种，分别是在系统编程（</a:t>
            </a:r>
            <a:r>
              <a:rPr lang="en-US" altLang="zh-CN"/>
              <a:t>ISP</a:t>
            </a:r>
            <a:r>
              <a:rPr lang="zh-CN" altLang="en-US"/>
              <a:t>，</a:t>
            </a:r>
            <a:r>
              <a:rPr lang="en-US" altLang="zh-CN"/>
              <a:t>In System Programming</a:t>
            </a:r>
            <a:r>
              <a:rPr lang="zh-CN" altLang="en-US"/>
              <a:t>）和在程序中编程（</a:t>
            </a:r>
            <a:r>
              <a:rPr lang="en-US" altLang="zh-CN"/>
              <a:t>IAP</a:t>
            </a:r>
            <a:r>
              <a:rPr lang="zh-CN" altLang="en-US"/>
              <a:t>，</a:t>
            </a:r>
            <a:r>
              <a:rPr lang="en-US" altLang="zh-CN"/>
              <a:t>In Application Programming</a:t>
            </a:r>
            <a:r>
              <a:rPr lang="zh-CN" altLang="en-US"/>
              <a:t>）。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7600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3345156-5EBA-4102-AE2A-79169B096F14}"/>
              </a:ext>
            </a:extLst>
          </p:cNvPr>
          <p:cNvSpPr txBox="1"/>
          <p:nvPr/>
        </p:nvSpPr>
        <p:spPr>
          <a:xfrm>
            <a:off x="555030" y="466088"/>
            <a:ext cx="23230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>
                <a:solidFill>
                  <a:schemeClr val="accent1"/>
                </a:solidFill>
                <a:latin typeface="+mj-ea"/>
                <a:ea typeface="+mj-ea"/>
              </a:rPr>
              <a:t>ISP</a:t>
            </a:r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与</a:t>
            </a:r>
            <a:r>
              <a:rPr lang="en-US" altLang="zh-CN" sz="4000">
                <a:solidFill>
                  <a:schemeClr val="accent1"/>
                </a:solidFill>
                <a:latin typeface="+mj-ea"/>
                <a:ea typeface="+mj-ea"/>
              </a:rPr>
              <a:t>IAP</a:t>
            </a:r>
            <a:endParaRPr lang="zh-CN" altLang="en-US" sz="4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4" name="PA-文本框 4">
            <a:extLst>
              <a:ext uri="{FF2B5EF4-FFF2-40B4-BE49-F238E27FC236}">
                <a16:creationId xmlns:a16="http://schemas.microsoft.com/office/drawing/2014/main" id="{7CD52B1B-13E6-4D44-BD27-80C83EE8DCB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45604" y="1438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2000"/>
              <a:t>ISP</a:t>
            </a:r>
            <a:endParaRPr lang="zh-CN" altLang="en-US" sz="2000"/>
          </a:p>
        </p:txBody>
      </p:sp>
      <p:sp>
        <p:nvSpPr>
          <p:cNvPr id="9" name="PA-文本框 5">
            <a:extLst>
              <a:ext uri="{FF2B5EF4-FFF2-40B4-BE49-F238E27FC236}">
                <a16:creationId xmlns:a16="http://schemas.microsoft.com/office/drawing/2014/main" id="{2B7FFFF1-B44A-47B4-B93E-35D27538C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45604" y="1942246"/>
            <a:ext cx="10453451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使用</a:t>
            </a:r>
            <a:r>
              <a:rPr lang="en-US" altLang="zh-CN" sz="1600"/>
              <a:t>STC-ISP</a:t>
            </a:r>
            <a:r>
              <a:rPr lang="zh-CN" altLang="en-US" sz="1600"/>
              <a:t>软件下载程序的编程方式，称为</a:t>
            </a:r>
            <a:r>
              <a:rPr lang="en-US" altLang="zh-CN" sz="1600"/>
              <a:t>ISP</a:t>
            </a:r>
            <a:r>
              <a:rPr lang="zh-CN" altLang="en-US" sz="1600"/>
              <a:t>。</a:t>
            </a:r>
            <a:r>
              <a:rPr lang="en-US" altLang="zh-CN" sz="1600"/>
              <a:t>STC89</a:t>
            </a:r>
            <a:r>
              <a:rPr lang="zh-CN" altLang="en-US" sz="1600"/>
              <a:t>系列微控制器在完全断电后上电时（也称为冷启动），会自动执行存储在</a:t>
            </a:r>
            <a:r>
              <a:rPr lang="en-US" altLang="zh-CN" sz="1600"/>
              <a:t>Flash</a:t>
            </a:r>
            <a:r>
              <a:rPr lang="zh-CN" altLang="en-US" sz="1600"/>
              <a:t>中内置的一段程序（称为</a:t>
            </a:r>
            <a:r>
              <a:rPr lang="en-US" altLang="zh-CN" sz="1600"/>
              <a:t>BootLoader</a:t>
            </a:r>
            <a:r>
              <a:rPr lang="zh-CN" altLang="en-US" sz="1600"/>
              <a:t>程序）。</a:t>
            </a:r>
            <a:endParaRPr lang="en-US" altLang="zh-CN" sz="1600"/>
          </a:p>
          <a:p>
            <a:r>
              <a:rPr lang="zh-CN" altLang="en-US" sz="1600"/>
              <a:t>不同的单片机厂商的</a:t>
            </a:r>
            <a:r>
              <a:rPr lang="en-US" altLang="zh-CN" sz="1600"/>
              <a:t>ISP</a:t>
            </a:r>
            <a:r>
              <a:rPr lang="zh-CN" altLang="en-US" sz="1600"/>
              <a:t>程序会存在差异，以</a:t>
            </a:r>
            <a:r>
              <a:rPr lang="en-US" altLang="zh-CN" sz="1600"/>
              <a:t>STC89</a:t>
            </a:r>
            <a:r>
              <a:rPr lang="zh-CN" altLang="en-US" sz="1600"/>
              <a:t>系列单片机为例，只要</a:t>
            </a:r>
            <a:r>
              <a:rPr lang="en-US" altLang="zh-CN" sz="1600"/>
              <a:t>STC89</a:t>
            </a:r>
            <a:r>
              <a:rPr lang="zh-CN" altLang="en-US" sz="1600"/>
              <a:t>系列微控制器在冷启动时串口上收到连续的</a:t>
            </a:r>
            <a:r>
              <a:rPr lang="en-US" altLang="zh-CN" sz="1600"/>
              <a:t>0x7F</a:t>
            </a:r>
            <a:r>
              <a:rPr lang="zh-CN" altLang="en-US" sz="1600"/>
              <a:t>，就会进入</a:t>
            </a:r>
            <a:r>
              <a:rPr lang="en-US" altLang="zh-CN" sz="1600"/>
              <a:t>ISP</a:t>
            </a:r>
            <a:r>
              <a:rPr lang="zh-CN" altLang="en-US" sz="1600"/>
              <a:t>模式，通过串口接收到的数据改写用户程序区，实现程序下载功能。</a:t>
            </a:r>
            <a:endParaRPr lang="en-US" altLang="zh-CN" sz="1600"/>
          </a:p>
          <a:p>
            <a:r>
              <a:rPr lang="zh-CN" altLang="en-US" sz="1600"/>
              <a:t>因此，在</a:t>
            </a:r>
            <a:r>
              <a:rPr lang="en-US" altLang="zh-CN" sz="1600"/>
              <a:t>STC89</a:t>
            </a:r>
            <a:r>
              <a:rPr lang="zh-CN" altLang="en-US" sz="1600"/>
              <a:t>系列微控制器下载程序时，通常需要先单击</a:t>
            </a:r>
            <a:r>
              <a:rPr lang="en-US" altLang="zh-CN" sz="1600"/>
              <a:t>STC-ISP</a:t>
            </a:r>
            <a:r>
              <a:rPr lang="zh-CN" altLang="en-US" sz="1600"/>
              <a:t>软件中的“下载</a:t>
            </a:r>
            <a:r>
              <a:rPr lang="en-US" altLang="zh-CN" sz="1600"/>
              <a:t>/</a:t>
            </a:r>
            <a:r>
              <a:rPr lang="zh-CN" altLang="en-US" sz="1600"/>
              <a:t>编程”按钮，再打开电源。</a:t>
            </a:r>
            <a:endParaRPr lang="zh-CN" altLang="zh-CN" sz="1600"/>
          </a:p>
        </p:txBody>
      </p:sp>
      <p:sp>
        <p:nvSpPr>
          <p:cNvPr id="10" name="PA-文本框 4">
            <a:extLst>
              <a:ext uri="{FF2B5EF4-FFF2-40B4-BE49-F238E27FC236}">
                <a16:creationId xmlns:a16="http://schemas.microsoft.com/office/drawing/2014/main" id="{EC255D36-6DC1-4978-87C6-C9954AB181F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5604" y="3980096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2000"/>
              <a:t>IAP</a:t>
            </a:r>
            <a:endParaRPr lang="zh-CN" altLang="en-US" sz="2000"/>
          </a:p>
        </p:txBody>
      </p:sp>
      <p:sp>
        <p:nvSpPr>
          <p:cNvPr id="11" name="PA-文本框 5">
            <a:extLst>
              <a:ext uri="{FF2B5EF4-FFF2-40B4-BE49-F238E27FC236}">
                <a16:creationId xmlns:a16="http://schemas.microsoft.com/office/drawing/2014/main" id="{ED51919C-E72D-44C8-B842-826CE0B012D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45604" y="4380206"/>
            <a:ext cx="10453451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而在程序中编写程序的编程方式，称为</a:t>
            </a:r>
            <a:r>
              <a:rPr lang="en-US" altLang="zh-CN" sz="1600"/>
              <a:t>IAP</a:t>
            </a:r>
            <a:r>
              <a:rPr lang="zh-CN" altLang="en-US" sz="1600"/>
              <a:t>。通过程序修改相关寄存器的值，并且写入相应的命令，即可触发</a:t>
            </a:r>
            <a:r>
              <a:rPr lang="en-US" altLang="zh-CN" sz="1600"/>
              <a:t>IAP</a:t>
            </a:r>
            <a:r>
              <a:rPr lang="zh-CN" altLang="en-US" sz="1600"/>
              <a:t>模式，实现对</a:t>
            </a:r>
            <a:r>
              <a:rPr lang="en-US" altLang="zh-CN" sz="1600"/>
              <a:t>Flash</a:t>
            </a:r>
            <a:r>
              <a:rPr lang="zh-CN" altLang="en-US" sz="1600"/>
              <a:t>的读写操作。</a:t>
            </a:r>
            <a:endParaRPr lang="zh-CN" altLang="zh-CN" sz="1600"/>
          </a:p>
        </p:txBody>
      </p:sp>
    </p:spTree>
    <p:extLst>
      <p:ext uri="{BB962C8B-B14F-4D97-AF65-F5344CB8AC3E}">
        <p14:creationId xmlns:p14="http://schemas.microsoft.com/office/powerpoint/2010/main" val="3489289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57407" y="1543767"/>
            <a:ext cx="11226800" cy="3770466"/>
            <a:chOff x="457407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57407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8378065" cy="1739256"/>
                <a:chOff x="-15896" y="866380"/>
                <a:chExt cx="8378065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8024954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内部</a:t>
                  </a:r>
                  <a:r>
                    <a:rPr lang="en-US" altLang="zh-CN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Flash</a:t>
                  </a:r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存储结构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2124299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12.2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02660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3345156-5EBA-4102-AE2A-79169B096F14}"/>
              </a:ext>
            </a:extLst>
          </p:cNvPr>
          <p:cNvSpPr txBox="1"/>
          <p:nvPr/>
        </p:nvSpPr>
        <p:spPr>
          <a:xfrm>
            <a:off x="555030" y="466088"/>
            <a:ext cx="4541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内部</a:t>
            </a:r>
            <a:r>
              <a:rPr lang="en-US" altLang="zh-CN" sz="4000">
                <a:solidFill>
                  <a:schemeClr val="accent1"/>
                </a:solidFill>
                <a:latin typeface="+mj-ea"/>
                <a:ea typeface="+mj-ea"/>
              </a:rPr>
              <a:t>Flash</a:t>
            </a:r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存储结构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C1B15EC-F885-495D-BFA4-05EB4B25C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740180"/>
              </p:ext>
            </p:extLst>
          </p:nvPr>
        </p:nvGraphicFramePr>
        <p:xfrm>
          <a:off x="7825947" y="2183027"/>
          <a:ext cx="3484605" cy="2936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8" name="Visio" r:id="rId6" imgW="1432418" imgH="1216623" progId="Visio.Drawing.11">
                  <p:embed/>
                </p:oleObj>
              </mc:Choice>
              <mc:Fallback>
                <p:oleObj name="Visio" r:id="rId6" imgW="1432418" imgH="121662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5947" y="2183027"/>
                        <a:ext cx="3484605" cy="29368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A-文本框 5">
            <a:extLst>
              <a:ext uri="{FF2B5EF4-FFF2-40B4-BE49-F238E27FC236}">
                <a16:creationId xmlns:a16="http://schemas.microsoft.com/office/drawing/2014/main" id="{1BD85D45-489A-49AE-8B44-BFF964B40F5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5074" y="1682565"/>
            <a:ext cx="7130873" cy="9123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en-US" altLang="zh-CN"/>
              <a:t>STC89C52RC</a:t>
            </a:r>
            <a:r>
              <a:rPr lang="zh-CN" altLang="en-US"/>
              <a:t>芯片内部</a:t>
            </a:r>
            <a:r>
              <a:rPr lang="en-US" altLang="zh-CN"/>
              <a:t>Flash</a:t>
            </a:r>
            <a:r>
              <a:rPr lang="zh-CN" altLang="en-US"/>
              <a:t>可分为程序区和</a:t>
            </a:r>
            <a:r>
              <a:rPr lang="en-US" altLang="zh-CN"/>
              <a:t>EEPROM</a:t>
            </a:r>
            <a:r>
              <a:rPr lang="zh-CN" altLang="en-US"/>
              <a:t>区。其中，</a:t>
            </a:r>
            <a:r>
              <a:rPr lang="en-US" altLang="zh-CN"/>
              <a:t>8KB</a:t>
            </a:r>
            <a:r>
              <a:rPr lang="zh-CN" altLang="en-US"/>
              <a:t>大小的程序区地址范围为</a:t>
            </a:r>
            <a:r>
              <a:rPr lang="en-US" altLang="zh-CN"/>
              <a:t>0x0000~0x1FFF</a:t>
            </a:r>
            <a:r>
              <a:rPr lang="zh-CN" altLang="en-US"/>
              <a:t>，用于存储用户程序；</a:t>
            </a:r>
            <a:r>
              <a:rPr lang="en-US" altLang="zh-CN"/>
              <a:t>4KB</a:t>
            </a:r>
            <a:r>
              <a:rPr lang="zh-CN" altLang="en-US"/>
              <a:t>大小的</a:t>
            </a:r>
            <a:r>
              <a:rPr lang="en-US" altLang="zh-CN"/>
              <a:t>EEPROM</a:t>
            </a:r>
            <a:r>
              <a:rPr lang="zh-CN" altLang="en-US"/>
              <a:t>区地址范围为</a:t>
            </a:r>
            <a:r>
              <a:rPr lang="en-US" altLang="zh-CN"/>
              <a:t>0x2000~0x2FFF</a:t>
            </a:r>
            <a:r>
              <a:rPr lang="zh-CN" altLang="en-US"/>
              <a:t>，可用于断电时存储数据。</a:t>
            </a:r>
            <a:endParaRPr lang="zh-CN" altLang="zh-CN"/>
          </a:p>
        </p:txBody>
      </p:sp>
      <p:sp>
        <p:nvSpPr>
          <p:cNvPr id="10" name="PA-文本框 5">
            <a:extLst>
              <a:ext uri="{FF2B5EF4-FFF2-40B4-BE49-F238E27FC236}">
                <a16:creationId xmlns:a16="http://schemas.microsoft.com/office/drawing/2014/main" id="{82DA8C81-69FD-42EF-8B97-7B3E77C8D9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95074" y="2751310"/>
            <a:ext cx="7130873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其中</a:t>
            </a:r>
            <a:r>
              <a:rPr lang="en-US" altLang="zh-CN"/>
              <a:t>EEPROM</a:t>
            </a:r>
            <a:r>
              <a:rPr lang="zh-CN" altLang="en-US"/>
              <a:t>区可分为</a:t>
            </a:r>
            <a:r>
              <a:rPr lang="en-US" altLang="zh-CN"/>
              <a:t>8</a:t>
            </a:r>
            <a:r>
              <a:rPr lang="zh-CN" altLang="en-US"/>
              <a:t>个扇区，其中每个扇区包含</a:t>
            </a:r>
            <a:r>
              <a:rPr lang="en-US" altLang="zh-CN"/>
              <a:t>512</a:t>
            </a:r>
            <a:r>
              <a:rPr lang="zh-CN" altLang="en-US"/>
              <a:t>字节</a:t>
            </a:r>
            <a:endParaRPr lang="zh-CN" altLang="zh-CN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170E588-18F6-440A-BFC0-C6ABD8EAE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355171"/>
              </p:ext>
            </p:extLst>
          </p:nvPr>
        </p:nvGraphicFramePr>
        <p:xfrm>
          <a:off x="695074" y="3347260"/>
          <a:ext cx="6941400" cy="1935803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867675">
                  <a:extLst>
                    <a:ext uri="{9D8B030D-6E8A-4147-A177-3AD203B41FA5}">
                      <a16:colId xmlns:a16="http://schemas.microsoft.com/office/drawing/2014/main" val="4278472486"/>
                    </a:ext>
                  </a:extLst>
                </a:gridCol>
                <a:gridCol w="867675">
                  <a:extLst>
                    <a:ext uri="{9D8B030D-6E8A-4147-A177-3AD203B41FA5}">
                      <a16:colId xmlns:a16="http://schemas.microsoft.com/office/drawing/2014/main" val="1610338238"/>
                    </a:ext>
                  </a:extLst>
                </a:gridCol>
                <a:gridCol w="867675">
                  <a:extLst>
                    <a:ext uri="{9D8B030D-6E8A-4147-A177-3AD203B41FA5}">
                      <a16:colId xmlns:a16="http://schemas.microsoft.com/office/drawing/2014/main" val="1144470824"/>
                    </a:ext>
                  </a:extLst>
                </a:gridCol>
                <a:gridCol w="867675">
                  <a:extLst>
                    <a:ext uri="{9D8B030D-6E8A-4147-A177-3AD203B41FA5}">
                      <a16:colId xmlns:a16="http://schemas.microsoft.com/office/drawing/2014/main" val="1314114691"/>
                    </a:ext>
                  </a:extLst>
                </a:gridCol>
                <a:gridCol w="867675">
                  <a:extLst>
                    <a:ext uri="{9D8B030D-6E8A-4147-A177-3AD203B41FA5}">
                      <a16:colId xmlns:a16="http://schemas.microsoft.com/office/drawing/2014/main" val="1064315961"/>
                    </a:ext>
                  </a:extLst>
                </a:gridCol>
                <a:gridCol w="867675">
                  <a:extLst>
                    <a:ext uri="{9D8B030D-6E8A-4147-A177-3AD203B41FA5}">
                      <a16:colId xmlns:a16="http://schemas.microsoft.com/office/drawing/2014/main" val="2896267521"/>
                    </a:ext>
                  </a:extLst>
                </a:gridCol>
                <a:gridCol w="867675">
                  <a:extLst>
                    <a:ext uri="{9D8B030D-6E8A-4147-A177-3AD203B41FA5}">
                      <a16:colId xmlns:a16="http://schemas.microsoft.com/office/drawing/2014/main" val="3468537566"/>
                    </a:ext>
                  </a:extLst>
                </a:gridCol>
                <a:gridCol w="867675">
                  <a:extLst>
                    <a:ext uri="{9D8B030D-6E8A-4147-A177-3AD203B41FA5}">
                      <a16:colId xmlns:a16="http://schemas.microsoft.com/office/drawing/2014/main" val="1189727320"/>
                    </a:ext>
                  </a:extLst>
                </a:gridCol>
              </a:tblGrid>
              <a:tr h="282925"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第一扇区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第二扇区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第三扇区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第四扇区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92808"/>
                  </a:ext>
                </a:extLst>
              </a:tr>
              <a:tr h="282925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起始地址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结束地址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起始地址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结束地址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起始地址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结束地址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起始地址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结束地址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550622"/>
                  </a:ext>
                </a:extLst>
              </a:tr>
              <a:tr h="282925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0x2000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0x21FF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0x2200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0x23FF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0x2400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0x25FF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0x2600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0x27FF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7276772"/>
                  </a:ext>
                </a:extLst>
              </a:tr>
              <a:tr h="238253">
                <a:tc gridSpan="8">
                  <a:txBody>
                    <a:bodyPr/>
                    <a:lstStyle/>
                    <a:p>
                      <a:endParaRPr lang="zh-CN" sz="14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673485"/>
                  </a:ext>
                </a:extLst>
              </a:tr>
              <a:tr h="282925"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第五扇区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第六扇区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第七扇区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第八扇区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006857"/>
                  </a:ext>
                </a:extLst>
              </a:tr>
              <a:tr h="282925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起始地址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结束地址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起始地址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结束地址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起始地址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结束地址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起始地址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effectLst/>
                        </a:rPr>
                        <a:t>结束地址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5855394"/>
                  </a:ext>
                </a:extLst>
              </a:tr>
              <a:tr h="282925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0x2800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0x29FF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0x2A00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0x2BFF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0x2C00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0x2DFF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0x2E00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0x2FFF</a:t>
                      </a:r>
                      <a:endParaRPr lang="zh-CN" sz="12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728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034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6417592" cy="2293253"/>
                <a:chOff x="-15896" y="866380"/>
                <a:chExt cx="6417592" cy="2293253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6064481" cy="17543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54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IAP</a:t>
                  </a:r>
                  <a:r>
                    <a:rPr lang="zh-CN" altLang="en-US" sz="54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读写</a:t>
                  </a:r>
                  <a:endParaRPr lang="en-US" altLang="zh-CN" sz="5400">
                    <a:solidFill>
                      <a:schemeClr val="accent1"/>
                    </a:solidFill>
                    <a:latin typeface="+mj-ea"/>
                    <a:ea typeface="+mj-ea"/>
                  </a:endParaRPr>
                </a:p>
                <a:p>
                  <a:r>
                    <a:rPr lang="zh-CN" altLang="en-US" sz="54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与</a:t>
                  </a:r>
                  <a:r>
                    <a:rPr lang="en-US" altLang="zh-CN" sz="54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Flash</a:t>
                  </a:r>
                  <a:r>
                    <a:rPr lang="zh-CN" altLang="en-US" sz="54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擦除的方法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2124299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12.3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83339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3345156-5EBA-4102-AE2A-79169B096F14}"/>
              </a:ext>
            </a:extLst>
          </p:cNvPr>
          <p:cNvSpPr txBox="1"/>
          <p:nvPr/>
        </p:nvSpPr>
        <p:spPr>
          <a:xfrm>
            <a:off x="555030" y="466088"/>
            <a:ext cx="27093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相关寄存器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9D16BFC-D5B8-44E7-AB97-080447A95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F81FB3D-BD9F-43B2-9DBE-02F9DED50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39850"/>
              </p:ext>
            </p:extLst>
          </p:nvPr>
        </p:nvGraphicFramePr>
        <p:xfrm>
          <a:off x="408864" y="1282569"/>
          <a:ext cx="6471771" cy="396500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891844">
                  <a:extLst>
                    <a:ext uri="{9D8B030D-6E8A-4147-A177-3AD203B41FA5}">
                      <a16:colId xmlns:a16="http://schemas.microsoft.com/office/drawing/2014/main" val="1849155586"/>
                    </a:ext>
                  </a:extLst>
                </a:gridCol>
                <a:gridCol w="1248724">
                  <a:extLst>
                    <a:ext uri="{9D8B030D-6E8A-4147-A177-3AD203B41FA5}">
                      <a16:colId xmlns:a16="http://schemas.microsoft.com/office/drawing/2014/main" val="3346348897"/>
                    </a:ext>
                  </a:extLst>
                </a:gridCol>
                <a:gridCol w="592120">
                  <a:extLst>
                    <a:ext uri="{9D8B030D-6E8A-4147-A177-3AD203B41FA5}">
                      <a16:colId xmlns:a16="http://schemas.microsoft.com/office/drawing/2014/main" val="1932466997"/>
                    </a:ext>
                  </a:extLst>
                </a:gridCol>
                <a:gridCol w="397706">
                  <a:extLst>
                    <a:ext uri="{9D8B030D-6E8A-4147-A177-3AD203B41FA5}">
                      <a16:colId xmlns:a16="http://schemas.microsoft.com/office/drawing/2014/main" val="2987295583"/>
                    </a:ext>
                  </a:extLst>
                </a:gridCol>
                <a:gridCol w="619357">
                  <a:extLst>
                    <a:ext uri="{9D8B030D-6E8A-4147-A177-3AD203B41FA5}">
                      <a16:colId xmlns:a16="http://schemas.microsoft.com/office/drawing/2014/main" val="3438910907"/>
                    </a:ext>
                  </a:extLst>
                </a:gridCol>
                <a:gridCol w="619357">
                  <a:extLst>
                    <a:ext uri="{9D8B030D-6E8A-4147-A177-3AD203B41FA5}">
                      <a16:colId xmlns:a16="http://schemas.microsoft.com/office/drawing/2014/main" val="4035280761"/>
                    </a:ext>
                  </a:extLst>
                </a:gridCol>
                <a:gridCol w="397647">
                  <a:extLst>
                    <a:ext uri="{9D8B030D-6E8A-4147-A177-3AD203B41FA5}">
                      <a16:colId xmlns:a16="http://schemas.microsoft.com/office/drawing/2014/main" val="3423068136"/>
                    </a:ext>
                  </a:extLst>
                </a:gridCol>
                <a:gridCol w="426254">
                  <a:extLst>
                    <a:ext uri="{9D8B030D-6E8A-4147-A177-3AD203B41FA5}">
                      <a16:colId xmlns:a16="http://schemas.microsoft.com/office/drawing/2014/main" val="4067969683"/>
                    </a:ext>
                  </a:extLst>
                </a:gridCol>
                <a:gridCol w="426254">
                  <a:extLst>
                    <a:ext uri="{9D8B030D-6E8A-4147-A177-3AD203B41FA5}">
                      <a16:colId xmlns:a16="http://schemas.microsoft.com/office/drawing/2014/main" val="3889180055"/>
                    </a:ext>
                  </a:extLst>
                </a:gridCol>
                <a:gridCol w="426254">
                  <a:extLst>
                    <a:ext uri="{9D8B030D-6E8A-4147-A177-3AD203B41FA5}">
                      <a16:colId xmlns:a16="http://schemas.microsoft.com/office/drawing/2014/main" val="3160666723"/>
                    </a:ext>
                  </a:extLst>
                </a:gridCol>
                <a:gridCol w="426254">
                  <a:extLst>
                    <a:ext uri="{9D8B030D-6E8A-4147-A177-3AD203B41FA5}">
                      <a16:colId xmlns:a16="http://schemas.microsoft.com/office/drawing/2014/main" val="1633700150"/>
                    </a:ext>
                  </a:extLst>
                </a:gridCol>
              </a:tblGrid>
              <a:tr h="240832"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名称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描述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地址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位和符号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478550"/>
                  </a:ext>
                </a:extLst>
              </a:tr>
              <a:tr h="2408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4977544"/>
                  </a:ext>
                </a:extLst>
              </a:tr>
              <a:tr h="48166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ISP_DATA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ISP-IAP</a:t>
                      </a:r>
                      <a:endParaRPr lang="zh-CN" sz="1400">
                        <a:effectLst/>
                      </a:endParaRPr>
                    </a:p>
                    <a:p>
                      <a:pPr algn="ctr"/>
                      <a:r>
                        <a:rPr lang="zh-CN" sz="1400">
                          <a:effectLst/>
                        </a:rPr>
                        <a:t>数据寄存器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 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901753"/>
                  </a:ext>
                </a:extLst>
              </a:tr>
              <a:tr h="67945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ISP_ADDRH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ISP-IAP</a:t>
                      </a:r>
                      <a:r>
                        <a:rPr lang="zh-CN" sz="1400">
                          <a:effectLst/>
                        </a:rPr>
                        <a:t>操作地址</a:t>
                      </a:r>
                    </a:p>
                    <a:p>
                      <a:pPr algn="ctr"/>
                      <a:r>
                        <a:rPr lang="zh-CN" sz="1400">
                          <a:effectLst/>
                        </a:rPr>
                        <a:t>寄存器高位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 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028485"/>
                  </a:ext>
                </a:extLst>
              </a:tr>
              <a:tr h="67945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ISP_ADDRL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ISP-IAP</a:t>
                      </a:r>
                      <a:r>
                        <a:rPr lang="zh-CN" sz="1400">
                          <a:effectLst/>
                        </a:rPr>
                        <a:t>操作地址</a:t>
                      </a:r>
                    </a:p>
                    <a:p>
                      <a:pPr algn="ctr"/>
                      <a:r>
                        <a:rPr lang="zh-CN" sz="1400">
                          <a:effectLst/>
                        </a:rPr>
                        <a:t>寄存器低位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0xE4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 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18384"/>
                  </a:ext>
                </a:extLst>
              </a:tr>
              <a:tr h="48166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ISP_CMD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ISP-IAP</a:t>
                      </a:r>
                      <a:endParaRPr lang="zh-CN" sz="1400">
                        <a:effectLst/>
                      </a:endParaRPr>
                    </a:p>
                    <a:p>
                      <a:pPr algn="ctr"/>
                      <a:r>
                        <a:rPr lang="zh-CN" sz="1400">
                          <a:effectLst/>
                        </a:rPr>
                        <a:t>命令寄存器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  <a:effectLst/>
                        </a:rPr>
                        <a:t>MS1</a:t>
                      </a:r>
                      <a:endParaRPr lang="zh-CN" sz="14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  <a:effectLst/>
                        </a:rPr>
                        <a:t>MS0</a:t>
                      </a:r>
                      <a:endParaRPr lang="zh-CN" sz="14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1631549"/>
                  </a:ext>
                </a:extLst>
              </a:tr>
              <a:tr h="67945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ISP_TRIG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ISP-IAP</a:t>
                      </a:r>
                      <a:endParaRPr lang="zh-CN" sz="1400">
                        <a:effectLst/>
                      </a:endParaRPr>
                    </a:p>
                    <a:p>
                      <a:pPr algn="ctr"/>
                      <a:r>
                        <a:rPr lang="zh-CN" sz="1400">
                          <a:effectLst/>
                        </a:rPr>
                        <a:t>命令触发寄存器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 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140765"/>
                  </a:ext>
                </a:extLst>
              </a:tr>
              <a:tr h="48166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ISP_CONTR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ISP-IAP</a:t>
                      </a:r>
                      <a:endParaRPr lang="zh-CN" sz="1400">
                        <a:effectLst/>
                      </a:endParaRPr>
                    </a:p>
                    <a:p>
                      <a:pPr algn="ctr"/>
                      <a:r>
                        <a:rPr lang="zh-CN" sz="1400">
                          <a:effectLst/>
                        </a:rPr>
                        <a:t>控制寄存器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0xE7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  <a:effectLst/>
                        </a:rPr>
                        <a:t>ISPEN</a:t>
                      </a:r>
                      <a:endParaRPr lang="zh-CN" sz="14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SWBS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SWRST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-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  <a:effectLst/>
                        </a:rPr>
                        <a:t>WT2</a:t>
                      </a:r>
                      <a:endParaRPr lang="zh-CN" sz="14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  <a:effectLst/>
                        </a:rPr>
                        <a:t>WT1</a:t>
                      </a:r>
                      <a:endParaRPr lang="zh-CN" sz="14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  <a:effectLst/>
                        </a:rPr>
                        <a:t>WT0</a:t>
                      </a:r>
                      <a:endParaRPr lang="zh-CN" sz="14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445927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F1C0C23-015E-4ADF-A0CC-09CF7D58E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361852"/>
              </p:ext>
            </p:extLst>
          </p:nvPr>
        </p:nvGraphicFramePr>
        <p:xfrm>
          <a:off x="7126696" y="1291108"/>
          <a:ext cx="4656438" cy="159351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470194">
                  <a:extLst>
                    <a:ext uri="{9D8B030D-6E8A-4147-A177-3AD203B41FA5}">
                      <a16:colId xmlns:a16="http://schemas.microsoft.com/office/drawing/2014/main" val="3756652591"/>
                    </a:ext>
                  </a:extLst>
                </a:gridCol>
                <a:gridCol w="470194">
                  <a:extLst>
                    <a:ext uri="{9D8B030D-6E8A-4147-A177-3AD203B41FA5}">
                      <a16:colId xmlns:a16="http://schemas.microsoft.com/office/drawing/2014/main" val="1754558600"/>
                    </a:ext>
                  </a:extLst>
                </a:gridCol>
                <a:gridCol w="3716050">
                  <a:extLst>
                    <a:ext uri="{9D8B030D-6E8A-4147-A177-3AD203B41FA5}">
                      <a16:colId xmlns:a16="http://schemas.microsoft.com/office/drawing/2014/main" val="3002801686"/>
                    </a:ext>
                  </a:extLst>
                </a:gridCol>
              </a:tblGrid>
              <a:tr h="31870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MS1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MS0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说明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471237"/>
                  </a:ext>
                </a:extLst>
              </a:tr>
              <a:tr h="31870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无</a:t>
                      </a:r>
                      <a:r>
                        <a:rPr lang="en-US" sz="1400">
                          <a:effectLst/>
                        </a:rPr>
                        <a:t>IAP</a:t>
                      </a:r>
                      <a:r>
                        <a:rPr lang="zh-CN" sz="1400">
                          <a:effectLst/>
                        </a:rPr>
                        <a:t>操作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5104967"/>
                  </a:ext>
                </a:extLst>
              </a:tr>
              <a:tr h="31870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允许对</a:t>
                      </a:r>
                      <a:r>
                        <a:rPr lang="en-US" sz="1400">
                          <a:effectLst/>
                        </a:rPr>
                        <a:t>Data Flash/EEPROM</a:t>
                      </a:r>
                      <a:r>
                        <a:rPr lang="zh-CN" sz="1400">
                          <a:effectLst/>
                        </a:rPr>
                        <a:t>区进行字节读取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260729"/>
                  </a:ext>
                </a:extLst>
              </a:tr>
              <a:tr h="31870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允许对</a:t>
                      </a:r>
                      <a:r>
                        <a:rPr lang="en-US" sz="1400">
                          <a:effectLst/>
                        </a:rPr>
                        <a:t>Data Flash/EEPROM</a:t>
                      </a:r>
                      <a:r>
                        <a:rPr lang="zh-CN" sz="1400">
                          <a:effectLst/>
                        </a:rPr>
                        <a:t>区进行字节写入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6721268"/>
                  </a:ext>
                </a:extLst>
              </a:tr>
              <a:tr h="31870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允许对</a:t>
                      </a:r>
                      <a:r>
                        <a:rPr lang="en-US" sz="1400">
                          <a:effectLst/>
                        </a:rPr>
                        <a:t>Data Flash/EEPROM</a:t>
                      </a:r>
                      <a:r>
                        <a:rPr lang="zh-CN" sz="1400">
                          <a:effectLst/>
                        </a:rPr>
                        <a:t>区进行扇区擦除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15486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DFB7D81-9499-41E2-8E5C-7AA1FF367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659253"/>
              </p:ext>
            </p:extLst>
          </p:nvPr>
        </p:nvGraphicFramePr>
        <p:xfrm>
          <a:off x="7126698" y="3177766"/>
          <a:ext cx="4656436" cy="2069812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463853">
                  <a:extLst>
                    <a:ext uri="{9D8B030D-6E8A-4147-A177-3AD203B41FA5}">
                      <a16:colId xmlns:a16="http://schemas.microsoft.com/office/drawing/2014/main" val="2991555189"/>
                    </a:ext>
                  </a:extLst>
                </a:gridCol>
                <a:gridCol w="358101">
                  <a:extLst>
                    <a:ext uri="{9D8B030D-6E8A-4147-A177-3AD203B41FA5}">
                      <a16:colId xmlns:a16="http://schemas.microsoft.com/office/drawing/2014/main" val="3484802516"/>
                    </a:ext>
                  </a:extLst>
                </a:gridCol>
                <a:gridCol w="358101">
                  <a:extLst>
                    <a:ext uri="{9D8B030D-6E8A-4147-A177-3AD203B41FA5}">
                      <a16:colId xmlns:a16="http://schemas.microsoft.com/office/drawing/2014/main" val="9672811"/>
                    </a:ext>
                  </a:extLst>
                </a:gridCol>
                <a:gridCol w="463853">
                  <a:extLst>
                    <a:ext uri="{9D8B030D-6E8A-4147-A177-3AD203B41FA5}">
                      <a16:colId xmlns:a16="http://schemas.microsoft.com/office/drawing/2014/main" val="3942559700"/>
                    </a:ext>
                  </a:extLst>
                </a:gridCol>
                <a:gridCol w="907563">
                  <a:extLst>
                    <a:ext uri="{9D8B030D-6E8A-4147-A177-3AD203B41FA5}">
                      <a16:colId xmlns:a16="http://schemas.microsoft.com/office/drawing/2014/main" val="828588231"/>
                    </a:ext>
                  </a:extLst>
                </a:gridCol>
                <a:gridCol w="907563">
                  <a:extLst>
                    <a:ext uri="{9D8B030D-6E8A-4147-A177-3AD203B41FA5}">
                      <a16:colId xmlns:a16="http://schemas.microsoft.com/office/drawing/2014/main" val="4125147082"/>
                    </a:ext>
                  </a:extLst>
                </a:gridCol>
                <a:gridCol w="1197402">
                  <a:extLst>
                    <a:ext uri="{9D8B030D-6E8A-4147-A177-3AD203B41FA5}">
                      <a16:colId xmlns:a16="http://schemas.microsoft.com/office/drawing/2014/main" val="4213553509"/>
                    </a:ext>
                  </a:extLst>
                </a:gridCol>
              </a:tblGrid>
              <a:tr h="2692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WT2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WT1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WT0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等待时间（单位：机器周期）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对应的推荐系统时钟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3442359"/>
                  </a:ext>
                </a:extLst>
              </a:tr>
              <a:tr h="7235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读操作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写操作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扇区擦除操作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12659"/>
                  </a:ext>
                </a:extLst>
              </a:tr>
              <a:tr h="26925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6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30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5471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≤</a:t>
                      </a:r>
                      <a:r>
                        <a:rPr lang="en-US" sz="1400">
                          <a:effectLst/>
                        </a:rPr>
                        <a:t>5MHz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1076429"/>
                  </a:ext>
                </a:extLst>
              </a:tr>
              <a:tr h="26925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60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10942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≤</a:t>
                      </a:r>
                      <a:r>
                        <a:rPr lang="en-US" sz="1400">
                          <a:effectLst/>
                        </a:rPr>
                        <a:t>10MHz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0433019"/>
                  </a:ext>
                </a:extLst>
              </a:tr>
              <a:tr h="26925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22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120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21185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≤</a:t>
                      </a:r>
                      <a:r>
                        <a:rPr lang="en-US" sz="1400">
                          <a:effectLst/>
                        </a:rPr>
                        <a:t>20MHz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72205"/>
                  </a:ext>
                </a:extLst>
              </a:tr>
              <a:tr h="26925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43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240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43769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>
                          <a:effectLst/>
                        </a:rPr>
                        <a:t>≤</a:t>
                      </a:r>
                      <a:r>
                        <a:rPr lang="en-US" sz="1400">
                          <a:effectLst/>
                        </a:rPr>
                        <a:t>40MHz</a:t>
                      </a:r>
                      <a:endParaRPr lang="zh-CN" sz="14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5641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608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3345156-5EBA-4102-AE2A-79169B096F14}"/>
              </a:ext>
            </a:extLst>
          </p:cNvPr>
          <p:cNvSpPr txBox="1"/>
          <p:nvPr/>
        </p:nvSpPr>
        <p:spPr>
          <a:xfrm>
            <a:off x="555030" y="466088"/>
            <a:ext cx="38523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单字节读取操作</a:t>
            </a:r>
          </a:p>
        </p:txBody>
      </p:sp>
      <p:sp>
        <p:nvSpPr>
          <p:cNvPr id="24" name="PA-文本框 4">
            <a:extLst>
              <a:ext uri="{FF2B5EF4-FFF2-40B4-BE49-F238E27FC236}">
                <a16:creationId xmlns:a16="http://schemas.microsoft.com/office/drawing/2014/main" id="{7CD52B1B-13E6-4D44-BD27-80C83EE8DCB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0016" y="1327155"/>
            <a:ext cx="1694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定义缓存变量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9D16BFC-D5B8-44E7-AB97-080447A95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PA-文本框 5">
            <a:extLst>
              <a:ext uri="{FF2B5EF4-FFF2-40B4-BE49-F238E27FC236}">
                <a16:creationId xmlns:a16="http://schemas.microsoft.com/office/drawing/2014/main" id="{2E032089-8B23-43C1-BE16-B0221748F4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9443" y="1687188"/>
            <a:ext cx="5902332" cy="3865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存放将要读取到的内容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4991D6-425B-404B-A4D4-917A2EAFA103}"/>
              </a:ext>
            </a:extLst>
          </p:cNvPr>
          <p:cNvSpPr/>
          <p:nvPr/>
        </p:nvSpPr>
        <p:spPr>
          <a:xfrm>
            <a:off x="569444" y="2119181"/>
            <a:ext cx="3837924" cy="3145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unsigned char dat;</a:t>
            </a:r>
          </a:p>
        </p:txBody>
      </p:sp>
      <p:sp>
        <p:nvSpPr>
          <p:cNvPr id="12" name="PA-文本框 4">
            <a:extLst>
              <a:ext uri="{FF2B5EF4-FFF2-40B4-BE49-F238E27FC236}">
                <a16:creationId xmlns:a16="http://schemas.microsoft.com/office/drawing/2014/main" id="{CDDE4CA3-92CB-432D-81EC-D196CEEAAD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016" y="2550583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打开</a:t>
            </a:r>
            <a:r>
              <a:rPr lang="en-US" altLang="zh-CN" sz="2000"/>
              <a:t>IAP</a:t>
            </a:r>
            <a:r>
              <a:rPr lang="zh-CN" altLang="en-US" sz="2000"/>
              <a:t>功能，并写入读取命令</a:t>
            </a:r>
          </a:p>
        </p:txBody>
      </p:sp>
      <p:sp>
        <p:nvSpPr>
          <p:cNvPr id="13" name="PA-文本框 5">
            <a:extLst>
              <a:ext uri="{FF2B5EF4-FFF2-40B4-BE49-F238E27FC236}">
                <a16:creationId xmlns:a16="http://schemas.microsoft.com/office/drawing/2014/main" id="{7F0ECEE1-95A1-465C-A2B7-1D34698A45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69442" y="2982459"/>
            <a:ext cx="11553147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对</a:t>
            </a:r>
            <a:r>
              <a:rPr lang="en-US" altLang="zh-CN" sz="1600"/>
              <a:t>ISP_CONTR</a:t>
            </a:r>
            <a:r>
              <a:rPr lang="zh-CN" altLang="en-US" sz="1600"/>
              <a:t>寄存器中的</a:t>
            </a:r>
            <a:r>
              <a:rPr lang="en-US" altLang="zh-CN" sz="1600"/>
              <a:t>ISPEN</a:t>
            </a:r>
            <a:r>
              <a:rPr lang="zh-CN" altLang="en-US" sz="1600"/>
              <a:t>位写</a:t>
            </a:r>
            <a:r>
              <a:rPr lang="en-US" altLang="zh-CN" sz="1600"/>
              <a:t>1</a:t>
            </a:r>
            <a:r>
              <a:rPr lang="zh-CN" altLang="en-US" sz="1600"/>
              <a:t>打开</a:t>
            </a:r>
            <a:r>
              <a:rPr lang="en-US" altLang="zh-CN" sz="1600"/>
              <a:t>IAP</a:t>
            </a:r>
            <a:r>
              <a:rPr lang="zh-CN" altLang="en-US" sz="1600"/>
              <a:t>功能，并根据系统时钟频率对</a:t>
            </a:r>
            <a:r>
              <a:rPr lang="en-US" altLang="zh-CN" sz="1600"/>
              <a:t>WT2</a:t>
            </a:r>
            <a:r>
              <a:rPr lang="zh-CN" altLang="en-US" sz="1600"/>
              <a:t>、</a:t>
            </a:r>
            <a:r>
              <a:rPr lang="en-US" altLang="zh-CN" sz="1600"/>
              <a:t>WT1</a:t>
            </a:r>
            <a:r>
              <a:rPr lang="zh-CN" altLang="en-US" sz="1600"/>
              <a:t>以及</a:t>
            </a:r>
            <a:r>
              <a:rPr lang="en-US" altLang="zh-CN" sz="1600"/>
              <a:t>WT0</a:t>
            </a:r>
            <a:r>
              <a:rPr lang="zh-CN" altLang="en-US" sz="1600"/>
              <a:t>分别写入</a:t>
            </a:r>
            <a:r>
              <a:rPr lang="en-US" altLang="zh-CN" sz="1600"/>
              <a:t>0</a:t>
            </a:r>
            <a:r>
              <a:rPr lang="zh-CN" altLang="en-US" sz="1600"/>
              <a:t>、</a:t>
            </a:r>
            <a:r>
              <a:rPr lang="en-US" altLang="zh-CN" sz="1600"/>
              <a:t>0</a:t>
            </a:r>
            <a:r>
              <a:rPr lang="zh-CN" altLang="en-US" sz="1600"/>
              <a:t>、</a:t>
            </a:r>
            <a:r>
              <a:rPr lang="en-US" altLang="zh-CN" sz="1600"/>
              <a:t>1</a:t>
            </a:r>
            <a:r>
              <a:rPr lang="zh-CN" altLang="en-US" sz="1600"/>
              <a:t>设置</a:t>
            </a:r>
            <a:r>
              <a:rPr lang="en-US" altLang="zh-CN" sz="1600"/>
              <a:t>Flash</a:t>
            </a:r>
            <a:r>
              <a:rPr lang="zh-CN" altLang="en-US" sz="1600"/>
              <a:t>操作等待时间。对</a:t>
            </a:r>
            <a:r>
              <a:rPr lang="en-US" altLang="zh-CN" sz="1600"/>
              <a:t>ISP_CMD</a:t>
            </a:r>
            <a:r>
              <a:rPr lang="zh-CN" altLang="en-US" sz="1600"/>
              <a:t>寄存器中的</a:t>
            </a:r>
            <a:r>
              <a:rPr lang="en-US" altLang="zh-CN" sz="1600"/>
              <a:t>MS1</a:t>
            </a:r>
            <a:r>
              <a:rPr lang="zh-CN" altLang="en-US" sz="1600"/>
              <a:t>、</a:t>
            </a:r>
            <a:r>
              <a:rPr lang="en-US" altLang="zh-CN" sz="1600"/>
              <a:t>MS0</a:t>
            </a:r>
            <a:r>
              <a:rPr lang="zh-CN" altLang="en-US" sz="1600"/>
              <a:t>位写入</a:t>
            </a:r>
            <a:r>
              <a:rPr lang="en-US" altLang="zh-CN" sz="1600"/>
              <a:t>0</a:t>
            </a:r>
            <a:r>
              <a:rPr lang="zh-CN" altLang="en-US" sz="1600"/>
              <a:t>和</a:t>
            </a:r>
            <a:r>
              <a:rPr lang="en-US" altLang="zh-CN" sz="1600"/>
              <a:t>1</a:t>
            </a:r>
            <a:r>
              <a:rPr lang="zh-CN" altLang="en-US" sz="1600"/>
              <a:t>，允许对</a:t>
            </a:r>
            <a:r>
              <a:rPr lang="en-US" altLang="zh-CN" sz="1600"/>
              <a:t>"Data Flash/EEPROM</a:t>
            </a:r>
            <a:r>
              <a:rPr lang="zh-CN" altLang="en-US" sz="1600"/>
              <a:t>区</a:t>
            </a:r>
            <a:r>
              <a:rPr lang="en-US" altLang="zh-CN" sz="1600"/>
              <a:t>"</a:t>
            </a:r>
            <a:r>
              <a:rPr lang="zh-CN" altLang="en-US" sz="1600"/>
              <a:t>进行字节读取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0D6780-6BA3-4CC4-BA4E-19F624E5D03F}"/>
              </a:ext>
            </a:extLst>
          </p:cNvPr>
          <p:cNvSpPr/>
          <p:nvPr/>
        </p:nvSpPr>
        <p:spPr>
          <a:xfrm>
            <a:off x="555030" y="3723650"/>
            <a:ext cx="7442873" cy="616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ISP_CONTR=0x81;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打开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功能，允许编程改变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Flash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，设置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Flash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操作等待时间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ISP_CMD = 0x02;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允许对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"Data Flash/EEPROM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区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"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进行字节读取</a:t>
            </a:r>
          </a:p>
        </p:txBody>
      </p:sp>
      <p:sp>
        <p:nvSpPr>
          <p:cNvPr id="17" name="PA-文本框 4">
            <a:extLst>
              <a:ext uri="{FF2B5EF4-FFF2-40B4-BE49-F238E27FC236}">
                <a16:creationId xmlns:a16="http://schemas.microsoft.com/office/drawing/2014/main" id="{198A3BCB-9C68-4B0E-A539-5994DE315B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016" y="4400584"/>
            <a:ext cx="2372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>
                <a:solidFill>
                  <a:srgbClr val="FF0000"/>
                </a:solidFill>
              </a:rPr>
              <a:t>写入</a:t>
            </a:r>
            <a:r>
              <a:rPr lang="en-US" altLang="zh-CN" sz="2000">
                <a:solidFill>
                  <a:srgbClr val="FF0000"/>
                </a:solidFill>
              </a:rPr>
              <a:t>IAP</a:t>
            </a:r>
            <a:r>
              <a:rPr lang="zh-CN" altLang="en-US" sz="2000">
                <a:solidFill>
                  <a:srgbClr val="FF0000"/>
                </a:solidFill>
              </a:rPr>
              <a:t>操作的地址</a:t>
            </a:r>
          </a:p>
        </p:txBody>
      </p:sp>
      <p:sp>
        <p:nvSpPr>
          <p:cNvPr id="19" name="PA-文本框 5">
            <a:extLst>
              <a:ext uri="{FF2B5EF4-FFF2-40B4-BE49-F238E27FC236}">
                <a16:creationId xmlns:a16="http://schemas.microsoft.com/office/drawing/2014/main" id="{410539C1-96FD-4178-9C33-2CE8157A15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5030" y="4777989"/>
            <a:ext cx="9860150" cy="3893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假设需要写入的地址为</a:t>
            </a:r>
            <a:r>
              <a:rPr lang="en-US" altLang="zh-CN" sz="1600"/>
              <a:t>addr</a:t>
            </a:r>
            <a:r>
              <a:rPr lang="zh-CN" altLang="en-US" sz="1600"/>
              <a:t>，使用以下代码分别向</a:t>
            </a:r>
            <a:r>
              <a:rPr lang="en-US" altLang="zh-CN" sz="1600"/>
              <a:t>ISP_ADDRL</a:t>
            </a:r>
            <a:r>
              <a:rPr lang="zh-CN" altLang="en-US" sz="1600"/>
              <a:t>和</a:t>
            </a:r>
            <a:r>
              <a:rPr lang="en-US" altLang="zh-CN" sz="1600"/>
              <a:t>ISP_ADDRH</a:t>
            </a:r>
            <a:r>
              <a:rPr lang="zh-CN" altLang="en-US" sz="1600"/>
              <a:t>寄存器写入</a:t>
            </a:r>
            <a:r>
              <a:rPr lang="en-US" altLang="zh-CN" sz="1600"/>
              <a:t>IAP</a:t>
            </a:r>
            <a:r>
              <a:rPr lang="zh-CN" altLang="en-US" sz="1600"/>
              <a:t>操作地址。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122BF9-BAAE-442F-84EA-A9824E69D348}"/>
              </a:ext>
            </a:extLst>
          </p:cNvPr>
          <p:cNvSpPr/>
          <p:nvPr/>
        </p:nvSpPr>
        <p:spPr>
          <a:xfrm>
            <a:off x="569443" y="5230692"/>
            <a:ext cx="7442873" cy="544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ISP_ADDRL = addr;   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写入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操作地址寄存器低位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ISP_ADDRH = addr &gt;&gt; 8;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写入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操作地址寄存器高位</a:t>
            </a:r>
          </a:p>
        </p:txBody>
      </p:sp>
    </p:spTree>
    <p:extLst>
      <p:ext uri="{BB962C8B-B14F-4D97-AF65-F5344CB8AC3E}">
        <p14:creationId xmlns:p14="http://schemas.microsoft.com/office/powerpoint/2010/main" val="2883797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3345156-5EBA-4102-AE2A-79169B096F14}"/>
              </a:ext>
            </a:extLst>
          </p:cNvPr>
          <p:cNvSpPr txBox="1"/>
          <p:nvPr/>
        </p:nvSpPr>
        <p:spPr>
          <a:xfrm>
            <a:off x="555030" y="466088"/>
            <a:ext cx="38523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单字节读取操作</a:t>
            </a:r>
          </a:p>
        </p:txBody>
      </p:sp>
      <p:sp>
        <p:nvSpPr>
          <p:cNvPr id="24" name="PA-文本框 4">
            <a:extLst>
              <a:ext uri="{FF2B5EF4-FFF2-40B4-BE49-F238E27FC236}">
                <a16:creationId xmlns:a16="http://schemas.microsoft.com/office/drawing/2014/main" id="{7CD52B1B-13E6-4D44-BD27-80C83EE8DCB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0016" y="1327155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2000">
                <a:solidFill>
                  <a:srgbClr val="FF0000"/>
                </a:solidFill>
              </a:rPr>
              <a:t>IAP</a:t>
            </a:r>
            <a:r>
              <a:rPr lang="zh-CN" altLang="en-US" sz="2000">
                <a:solidFill>
                  <a:srgbClr val="FF0000"/>
                </a:solidFill>
              </a:rPr>
              <a:t>功能触发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9D16BFC-D5B8-44E7-AB97-080447A95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PA-文本框 5">
            <a:extLst>
              <a:ext uri="{FF2B5EF4-FFF2-40B4-BE49-F238E27FC236}">
                <a16:creationId xmlns:a16="http://schemas.microsoft.com/office/drawing/2014/main" id="{2E032089-8B23-43C1-BE16-B0221748F4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9443" y="1687188"/>
            <a:ext cx="10521052" cy="3893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对</a:t>
            </a:r>
            <a:r>
              <a:rPr lang="en-US" altLang="zh-CN" sz="1600"/>
              <a:t>ISP_TRIG</a:t>
            </a:r>
            <a:r>
              <a:rPr lang="zh-CN" altLang="en-US" sz="1600"/>
              <a:t>寄存器连续写入</a:t>
            </a:r>
            <a:r>
              <a:rPr lang="en-US" altLang="zh-CN" sz="1600"/>
              <a:t>0x46</a:t>
            </a:r>
            <a:r>
              <a:rPr lang="zh-CN" altLang="en-US" sz="1600"/>
              <a:t>和</a:t>
            </a:r>
            <a:r>
              <a:rPr lang="en-US" altLang="zh-CN" sz="1600"/>
              <a:t>0xB9</a:t>
            </a:r>
            <a:r>
              <a:rPr lang="zh-CN" altLang="en-US" sz="1600"/>
              <a:t>，即可触发</a:t>
            </a:r>
            <a:r>
              <a:rPr lang="en-US" altLang="zh-CN" sz="1600"/>
              <a:t>IAP</a:t>
            </a:r>
            <a:r>
              <a:rPr lang="zh-CN" altLang="en-US" sz="1600"/>
              <a:t>功能，让其根据</a:t>
            </a:r>
            <a:r>
              <a:rPr lang="en-US" altLang="zh-CN" sz="1600"/>
              <a:t>ISP_CMD</a:t>
            </a:r>
            <a:r>
              <a:rPr lang="zh-CN" altLang="en-US" sz="1600"/>
              <a:t>中的命令对</a:t>
            </a:r>
            <a:r>
              <a:rPr lang="en-US" altLang="zh-CN" sz="1600"/>
              <a:t>IAP</a:t>
            </a:r>
            <a:r>
              <a:rPr lang="zh-CN" altLang="en-US" sz="1600"/>
              <a:t>进行操作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4991D6-425B-404B-A4D4-917A2EAFA103}"/>
              </a:ext>
            </a:extLst>
          </p:cNvPr>
          <p:cNvSpPr/>
          <p:nvPr/>
        </p:nvSpPr>
        <p:spPr>
          <a:xfrm>
            <a:off x="569444" y="2119181"/>
            <a:ext cx="6492258" cy="6149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ISP_TRIG = 0x46;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写入触发命令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0x46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ISP_TRIG = 0xB9;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写入触发命令字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0xB9</a:t>
            </a:r>
          </a:p>
        </p:txBody>
      </p:sp>
      <p:sp>
        <p:nvSpPr>
          <p:cNvPr id="14" name="PA-文本框 4">
            <a:extLst>
              <a:ext uri="{FF2B5EF4-FFF2-40B4-BE49-F238E27FC236}">
                <a16:creationId xmlns:a16="http://schemas.microsoft.com/office/drawing/2014/main" id="{AFAE644C-CB18-4E4F-94F2-88E9BB36F83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5030" y="2813928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>
                <a:solidFill>
                  <a:srgbClr val="FF0000"/>
                </a:solidFill>
              </a:rPr>
              <a:t>读取数据</a:t>
            </a:r>
          </a:p>
        </p:txBody>
      </p:sp>
      <p:sp>
        <p:nvSpPr>
          <p:cNvPr id="15" name="PA-文本框 5">
            <a:extLst>
              <a:ext uri="{FF2B5EF4-FFF2-40B4-BE49-F238E27FC236}">
                <a16:creationId xmlns:a16="http://schemas.microsoft.com/office/drawing/2014/main" id="{ABF4CC6E-AB7A-4FFA-A5C7-1397DA082F6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69443" y="3136836"/>
            <a:ext cx="10521052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zh-CN"/>
              <a:t>触发</a:t>
            </a:r>
            <a:r>
              <a:rPr lang="en-US" altLang="zh-CN"/>
              <a:t>IAP</a:t>
            </a:r>
            <a:r>
              <a:rPr lang="zh-CN" altLang="zh-CN"/>
              <a:t>功能后，将需要读出的数据放进缓存变量中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FBB6D-C827-4864-B2AE-F9AADD737D49}"/>
              </a:ext>
            </a:extLst>
          </p:cNvPr>
          <p:cNvSpPr/>
          <p:nvPr/>
        </p:nvSpPr>
        <p:spPr>
          <a:xfrm>
            <a:off x="569443" y="3568829"/>
            <a:ext cx="6492259" cy="3522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dat = ISP_DATA;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将需要读出的数据放进缓存变量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PA-文本框 4">
            <a:extLst>
              <a:ext uri="{FF2B5EF4-FFF2-40B4-BE49-F238E27FC236}">
                <a16:creationId xmlns:a16="http://schemas.microsoft.com/office/drawing/2014/main" id="{D2AB8C9F-C49B-47C1-8462-FB905713F4A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5030" y="4051193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2000"/>
              <a:t>IAP</a:t>
            </a:r>
            <a:r>
              <a:rPr lang="zh-CN" altLang="en-US" sz="2000"/>
              <a:t>功能禁用</a:t>
            </a:r>
          </a:p>
        </p:txBody>
      </p:sp>
      <p:sp>
        <p:nvSpPr>
          <p:cNvPr id="22" name="PA-文本框 5">
            <a:extLst>
              <a:ext uri="{FF2B5EF4-FFF2-40B4-BE49-F238E27FC236}">
                <a16:creationId xmlns:a16="http://schemas.microsoft.com/office/drawing/2014/main" id="{5A843572-B745-4C6B-93A9-4461C8A8474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69443" y="4374101"/>
            <a:ext cx="10521052" cy="632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/>
              <a:t>当所有数据读取完成后，为了防止误触发</a:t>
            </a:r>
            <a:r>
              <a:rPr lang="en-US" altLang="zh-CN"/>
              <a:t>IAP</a:t>
            </a:r>
            <a:r>
              <a:rPr lang="zh-CN" altLang="en-US"/>
              <a:t>，可以禁用此功能。</a:t>
            </a:r>
            <a:r>
              <a:rPr lang="en-US" altLang="zh-CN"/>
              <a:t>IAP</a:t>
            </a:r>
            <a:r>
              <a:rPr lang="zh-CN" altLang="en-US"/>
              <a:t>禁用操作不是必须的，但是本书建议，在不使用</a:t>
            </a:r>
            <a:r>
              <a:rPr lang="en-US" altLang="zh-CN"/>
              <a:t>IAP</a:t>
            </a:r>
            <a:r>
              <a:rPr lang="zh-CN" altLang="en-US"/>
              <a:t>功能时对其进行禁用操作。对</a:t>
            </a:r>
            <a:r>
              <a:rPr lang="en-US" altLang="zh-CN"/>
              <a:t>ISP_CONTR</a:t>
            </a:r>
            <a:r>
              <a:rPr lang="zh-CN" altLang="en-US"/>
              <a:t>、</a:t>
            </a:r>
            <a:r>
              <a:rPr lang="en-US" altLang="zh-CN"/>
              <a:t>ISP_CMD</a:t>
            </a:r>
            <a:r>
              <a:rPr lang="zh-CN" altLang="en-US"/>
              <a:t>以及</a:t>
            </a:r>
            <a:r>
              <a:rPr lang="en-US" altLang="zh-CN"/>
              <a:t>ISP_TRIG</a:t>
            </a:r>
            <a:r>
              <a:rPr lang="zh-CN" altLang="en-US"/>
              <a:t>寄存器写入初始值</a:t>
            </a:r>
            <a:r>
              <a:rPr lang="en-US" altLang="zh-CN"/>
              <a:t>0x00</a:t>
            </a:r>
            <a:r>
              <a:rPr lang="zh-CN" altLang="en-US"/>
              <a:t>，即可禁用</a:t>
            </a:r>
            <a:r>
              <a:rPr lang="en-US" altLang="zh-CN"/>
              <a:t>IAP</a:t>
            </a:r>
            <a:r>
              <a:rPr lang="zh-CN" altLang="en-US"/>
              <a:t>功能</a:t>
            </a:r>
            <a:endParaRPr lang="zh-CN" alt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EF5E9C-5105-4941-972C-320F570F9A4B}"/>
              </a:ext>
            </a:extLst>
          </p:cNvPr>
          <p:cNvSpPr/>
          <p:nvPr/>
        </p:nvSpPr>
        <p:spPr>
          <a:xfrm>
            <a:off x="569443" y="5104792"/>
            <a:ext cx="6492259" cy="8521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ISP_CONTR = 0x00;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禁用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读写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EEPROM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ISP_CMD   = 0x00;  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待机模式，无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操作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ISP_TRIG  = 0x00;   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关闭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功能</a:t>
            </a:r>
          </a:p>
        </p:txBody>
      </p:sp>
    </p:spTree>
    <p:extLst>
      <p:ext uri="{BB962C8B-B14F-4D97-AF65-F5344CB8AC3E}">
        <p14:creationId xmlns:p14="http://schemas.microsoft.com/office/powerpoint/2010/main" val="2724264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3345156-5EBA-4102-AE2A-79169B096F14}"/>
              </a:ext>
            </a:extLst>
          </p:cNvPr>
          <p:cNvSpPr txBox="1"/>
          <p:nvPr/>
        </p:nvSpPr>
        <p:spPr>
          <a:xfrm>
            <a:off x="555030" y="466088"/>
            <a:ext cx="22044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扇区擦除</a:t>
            </a:r>
          </a:p>
        </p:txBody>
      </p:sp>
      <p:sp>
        <p:nvSpPr>
          <p:cNvPr id="24" name="PA-文本框 4">
            <a:extLst>
              <a:ext uri="{FF2B5EF4-FFF2-40B4-BE49-F238E27FC236}">
                <a16:creationId xmlns:a16="http://schemas.microsoft.com/office/drawing/2014/main" id="{7CD52B1B-13E6-4D44-BD27-80C83EE8DCB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0016" y="1971699"/>
            <a:ext cx="3379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打开</a:t>
            </a:r>
            <a:r>
              <a:rPr lang="en-US" altLang="zh-CN" sz="2000"/>
              <a:t>IAP</a:t>
            </a:r>
            <a:r>
              <a:rPr lang="zh-CN" altLang="en-US" sz="2000"/>
              <a:t>功能，写入擦除命令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9D16BFC-D5B8-44E7-AB97-080447A95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PA-文本框 5">
            <a:extLst>
              <a:ext uri="{FF2B5EF4-FFF2-40B4-BE49-F238E27FC236}">
                <a16:creationId xmlns:a16="http://schemas.microsoft.com/office/drawing/2014/main" id="{2E032089-8B23-43C1-BE16-B0221748F4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9442" y="1262274"/>
            <a:ext cx="11053113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由于</a:t>
            </a:r>
            <a:r>
              <a:rPr lang="en-US" altLang="zh-CN" sz="1600"/>
              <a:t>Flash</a:t>
            </a:r>
            <a:r>
              <a:rPr lang="zh-CN" altLang="en-US" sz="1600"/>
              <a:t>存储介质的特性，只能对其写入“</a:t>
            </a:r>
            <a:r>
              <a:rPr lang="en-US" altLang="zh-CN" sz="1600"/>
              <a:t>0”</a:t>
            </a:r>
            <a:r>
              <a:rPr lang="zh-CN" altLang="en-US" sz="1600"/>
              <a:t>而不能写入“</a:t>
            </a:r>
            <a:r>
              <a:rPr lang="en-US" altLang="zh-CN" sz="1600"/>
              <a:t>1”</a:t>
            </a:r>
            <a:r>
              <a:rPr lang="zh-CN" altLang="en-US" sz="1600"/>
              <a:t>，因此需要对扇区内写入“</a:t>
            </a:r>
            <a:r>
              <a:rPr lang="en-US" altLang="zh-CN" sz="1600"/>
              <a:t>1”</a:t>
            </a:r>
            <a:r>
              <a:rPr lang="zh-CN" altLang="en-US" sz="1600"/>
              <a:t>，即擦除操作。在首次对扇区执行写入操作时，必须先执行扇区擦除操作。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4991D6-425B-404B-A4D4-917A2EAFA103}"/>
              </a:ext>
            </a:extLst>
          </p:cNvPr>
          <p:cNvSpPr/>
          <p:nvPr/>
        </p:nvSpPr>
        <p:spPr>
          <a:xfrm>
            <a:off x="555030" y="3372020"/>
            <a:ext cx="7833537" cy="7778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ISP_CONTR=0x81;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打开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功能，允许编程改变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Flash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，设置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Flash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操作等待时间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ISP_CMD = 0x03;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允许对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Data Flash/EEPROM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区进行扇区擦除</a:t>
            </a:r>
          </a:p>
        </p:txBody>
      </p:sp>
      <p:sp>
        <p:nvSpPr>
          <p:cNvPr id="14" name="PA-文本框 5">
            <a:extLst>
              <a:ext uri="{FF2B5EF4-FFF2-40B4-BE49-F238E27FC236}">
                <a16:creationId xmlns:a16="http://schemas.microsoft.com/office/drawing/2014/main" id="{DBD4A05F-50C3-4C33-9E66-D46D868006A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86186" y="2323151"/>
            <a:ext cx="10358091" cy="10295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对</a:t>
            </a:r>
            <a:r>
              <a:rPr lang="en-US" altLang="zh-CN" sz="1600"/>
              <a:t>ISP_CONTR</a:t>
            </a:r>
            <a:r>
              <a:rPr lang="zh-CN" altLang="en-US" sz="1600"/>
              <a:t>寄存器中的</a:t>
            </a:r>
            <a:r>
              <a:rPr lang="en-US" altLang="zh-CN" sz="1600"/>
              <a:t>ISPEN</a:t>
            </a:r>
            <a:r>
              <a:rPr lang="zh-CN" altLang="en-US" sz="1600"/>
              <a:t>位写</a:t>
            </a:r>
            <a:r>
              <a:rPr lang="en-US" altLang="zh-CN" sz="1600"/>
              <a:t>1</a:t>
            </a:r>
            <a:r>
              <a:rPr lang="zh-CN" altLang="en-US" sz="1600"/>
              <a:t>打开</a:t>
            </a:r>
            <a:r>
              <a:rPr lang="en-US" altLang="zh-CN" sz="1600"/>
              <a:t>IAP</a:t>
            </a:r>
            <a:r>
              <a:rPr lang="zh-CN" altLang="en-US" sz="1600"/>
              <a:t>功能，并对</a:t>
            </a:r>
            <a:r>
              <a:rPr lang="en-US" altLang="zh-CN" sz="1600"/>
              <a:t>WT2</a:t>
            </a:r>
            <a:r>
              <a:rPr lang="zh-CN" altLang="en-US" sz="1600"/>
              <a:t>、</a:t>
            </a:r>
            <a:r>
              <a:rPr lang="en-US" altLang="zh-CN" sz="1600"/>
              <a:t>WT1</a:t>
            </a:r>
            <a:r>
              <a:rPr lang="zh-CN" altLang="en-US" sz="1600"/>
              <a:t>以及</a:t>
            </a:r>
            <a:r>
              <a:rPr lang="en-US" altLang="zh-CN" sz="1600"/>
              <a:t>WT0</a:t>
            </a:r>
            <a:r>
              <a:rPr lang="zh-CN" altLang="en-US" sz="1600"/>
              <a:t>位分别写入</a:t>
            </a:r>
            <a:r>
              <a:rPr lang="en-US" altLang="zh-CN" sz="1600"/>
              <a:t>0</a:t>
            </a:r>
            <a:r>
              <a:rPr lang="zh-CN" altLang="en-US" sz="1600"/>
              <a:t>、</a:t>
            </a:r>
            <a:r>
              <a:rPr lang="en-US" altLang="zh-CN" sz="1600"/>
              <a:t>0</a:t>
            </a:r>
            <a:r>
              <a:rPr lang="zh-CN" altLang="en-US" sz="1600"/>
              <a:t>、</a:t>
            </a:r>
            <a:r>
              <a:rPr lang="en-US" altLang="zh-CN" sz="1600"/>
              <a:t>1</a:t>
            </a:r>
            <a:r>
              <a:rPr lang="zh-CN" altLang="en-US" sz="1600"/>
              <a:t>设置</a:t>
            </a:r>
            <a:r>
              <a:rPr lang="en-US" altLang="zh-CN" sz="1600"/>
              <a:t>Data Flash</a:t>
            </a:r>
            <a:r>
              <a:rPr lang="zh-CN" altLang="en-US" sz="1600"/>
              <a:t>操作等待时间。对</a:t>
            </a:r>
            <a:r>
              <a:rPr lang="en-US" altLang="zh-CN" sz="1600"/>
              <a:t>ISP_CMD</a:t>
            </a:r>
            <a:r>
              <a:rPr lang="zh-CN" altLang="en-US" sz="1600"/>
              <a:t>寄存器中的</a:t>
            </a:r>
            <a:r>
              <a:rPr lang="en-US" altLang="zh-CN" sz="1600"/>
              <a:t>MS1</a:t>
            </a:r>
            <a:r>
              <a:rPr lang="zh-CN" altLang="en-US" sz="1600"/>
              <a:t>、</a:t>
            </a:r>
            <a:r>
              <a:rPr lang="en-US" altLang="zh-CN" sz="1600"/>
              <a:t>MS0</a:t>
            </a:r>
            <a:r>
              <a:rPr lang="zh-CN" altLang="en-US" sz="1600"/>
              <a:t>位分别写入</a:t>
            </a:r>
            <a:r>
              <a:rPr lang="en-US" altLang="zh-CN" sz="1600"/>
              <a:t>1</a:t>
            </a:r>
            <a:r>
              <a:rPr lang="zh-CN" altLang="en-US" sz="1600"/>
              <a:t>和</a:t>
            </a:r>
            <a:r>
              <a:rPr lang="en-US" altLang="zh-CN" sz="1600"/>
              <a:t>1</a:t>
            </a:r>
            <a:r>
              <a:rPr lang="zh-CN" altLang="en-US" sz="1600"/>
              <a:t>，允许对</a:t>
            </a:r>
            <a:r>
              <a:rPr lang="en-US" altLang="zh-CN" sz="1600"/>
              <a:t>Data Flash/EEPROM</a:t>
            </a:r>
            <a:r>
              <a:rPr lang="zh-CN" altLang="en-US" sz="1600"/>
              <a:t>区进行扇区擦除，代码如下。</a:t>
            </a:r>
          </a:p>
        </p:txBody>
      </p:sp>
      <p:sp>
        <p:nvSpPr>
          <p:cNvPr id="15" name="PA-文本框 4">
            <a:extLst>
              <a:ext uri="{FF2B5EF4-FFF2-40B4-BE49-F238E27FC236}">
                <a16:creationId xmlns:a16="http://schemas.microsoft.com/office/drawing/2014/main" id="{D011F0F5-A044-41A9-A5CC-CF477CF97A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60016" y="4181426"/>
            <a:ext cx="2372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写入</a:t>
            </a:r>
            <a:r>
              <a:rPr lang="en-US" altLang="zh-CN" sz="2000"/>
              <a:t>IAP</a:t>
            </a:r>
            <a:r>
              <a:rPr lang="zh-CN" altLang="en-US" sz="2000"/>
              <a:t>操作的地址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005474-4A54-4079-AB21-581F598151D9}"/>
              </a:ext>
            </a:extLst>
          </p:cNvPr>
          <p:cNvSpPr/>
          <p:nvPr/>
        </p:nvSpPr>
        <p:spPr>
          <a:xfrm>
            <a:off x="555030" y="5366277"/>
            <a:ext cx="7833537" cy="5904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ISP_ADDRL = addr;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ISP_ADDRH = addr &gt;&gt; 8;</a:t>
            </a:r>
          </a:p>
        </p:txBody>
      </p:sp>
      <p:sp>
        <p:nvSpPr>
          <p:cNvPr id="21" name="PA-文本框 5">
            <a:extLst>
              <a:ext uri="{FF2B5EF4-FFF2-40B4-BE49-F238E27FC236}">
                <a16:creationId xmlns:a16="http://schemas.microsoft.com/office/drawing/2014/main" id="{18C61546-B92C-4425-A129-1B128677406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86186" y="4569037"/>
            <a:ext cx="10358091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en-US" altLang="zh-CN" sz="1600"/>
              <a:t>EEPROM</a:t>
            </a:r>
            <a:r>
              <a:rPr lang="zh-CN" altLang="en-US" sz="1600"/>
              <a:t>的擦除是按照扇区进行的。假设需要擦除的扇区起始地址为</a:t>
            </a:r>
            <a:r>
              <a:rPr lang="en-US" altLang="zh-CN" sz="1600"/>
              <a:t>addr</a:t>
            </a:r>
            <a:r>
              <a:rPr lang="zh-CN" altLang="en-US" sz="1600"/>
              <a:t>（</a:t>
            </a:r>
            <a:r>
              <a:rPr lang="en-US" altLang="zh-CN" sz="1600"/>
              <a:t>4</a:t>
            </a:r>
            <a:r>
              <a:rPr lang="zh-CN" altLang="en-US" sz="1600"/>
              <a:t>位十六进制数），将</a:t>
            </a:r>
            <a:r>
              <a:rPr lang="en-US" altLang="zh-CN" sz="1600"/>
              <a:t>addr</a:t>
            </a:r>
            <a:r>
              <a:rPr lang="zh-CN" altLang="en-US" sz="1600"/>
              <a:t>的低位赋值给</a:t>
            </a:r>
            <a:r>
              <a:rPr lang="en-US" altLang="zh-CN" sz="1600"/>
              <a:t>ISP_ADDRL</a:t>
            </a:r>
            <a:r>
              <a:rPr lang="zh-CN" altLang="en-US" sz="1600"/>
              <a:t>寄存器，</a:t>
            </a:r>
            <a:r>
              <a:rPr lang="en-US" altLang="zh-CN" sz="1600"/>
              <a:t>addr</a:t>
            </a:r>
            <a:r>
              <a:rPr lang="zh-CN" altLang="en-US" sz="1600"/>
              <a:t>的高位赋值给</a:t>
            </a:r>
            <a:r>
              <a:rPr lang="en-US" altLang="zh-CN" sz="1600"/>
              <a:t>ISP_ADDRH</a:t>
            </a:r>
            <a:r>
              <a:rPr lang="zh-CN" altLang="en-US" sz="1600"/>
              <a:t>寄存器，代码如下。</a:t>
            </a:r>
          </a:p>
        </p:txBody>
      </p:sp>
    </p:spTree>
    <p:extLst>
      <p:ext uri="{BB962C8B-B14F-4D97-AF65-F5344CB8AC3E}">
        <p14:creationId xmlns:p14="http://schemas.microsoft.com/office/powerpoint/2010/main" val="2151075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3345156-5EBA-4102-AE2A-79169B096F14}"/>
              </a:ext>
            </a:extLst>
          </p:cNvPr>
          <p:cNvSpPr txBox="1"/>
          <p:nvPr/>
        </p:nvSpPr>
        <p:spPr>
          <a:xfrm>
            <a:off x="555030" y="466088"/>
            <a:ext cx="22044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扇区擦除</a:t>
            </a:r>
          </a:p>
        </p:txBody>
      </p:sp>
      <p:sp>
        <p:nvSpPr>
          <p:cNvPr id="24" name="PA-文本框 4">
            <a:extLst>
              <a:ext uri="{FF2B5EF4-FFF2-40B4-BE49-F238E27FC236}">
                <a16:creationId xmlns:a16="http://schemas.microsoft.com/office/drawing/2014/main" id="{7CD52B1B-13E6-4D44-BD27-80C83EE8DCB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0016" y="1285900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2000"/>
              <a:t>IAP</a:t>
            </a:r>
            <a:r>
              <a:rPr lang="zh-CN" altLang="en-US" sz="2000"/>
              <a:t>功能触发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9D16BFC-D5B8-44E7-AB97-080447A95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4991D6-425B-404B-A4D4-917A2EAFA103}"/>
              </a:ext>
            </a:extLst>
          </p:cNvPr>
          <p:cNvSpPr/>
          <p:nvPr/>
        </p:nvSpPr>
        <p:spPr>
          <a:xfrm>
            <a:off x="555030" y="2443615"/>
            <a:ext cx="7833537" cy="7778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ISP_TRIG = 0x46;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写入触发命令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0x46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ISP_TRIG = 0xB9;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写入触发命令字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0xB9</a:t>
            </a:r>
          </a:p>
        </p:txBody>
      </p:sp>
      <p:sp>
        <p:nvSpPr>
          <p:cNvPr id="14" name="PA-文本框 5">
            <a:extLst>
              <a:ext uri="{FF2B5EF4-FFF2-40B4-BE49-F238E27FC236}">
                <a16:creationId xmlns:a16="http://schemas.microsoft.com/office/drawing/2014/main" id="{DBD4A05F-50C3-4C33-9E66-D46D868006A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86187" y="1670159"/>
            <a:ext cx="9073862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对</a:t>
            </a:r>
            <a:r>
              <a:rPr lang="en-US" altLang="zh-CN" sz="1600"/>
              <a:t>ISP_TRIG</a:t>
            </a:r>
            <a:r>
              <a:rPr lang="zh-CN" altLang="en-US" sz="1600"/>
              <a:t>寄存器连续写入</a:t>
            </a:r>
            <a:r>
              <a:rPr lang="en-US" altLang="zh-CN" sz="1600"/>
              <a:t>0x46</a:t>
            </a:r>
            <a:r>
              <a:rPr lang="zh-CN" altLang="en-US" sz="1600"/>
              <a:t>和</a:t>
            </a:r>
            <a:r>
              <a:rPr lang="en-US" altLang="zh-CN" sz="1600"/>
              <a:t>0xB9</a:t>
            </a:r>
            <a:r>
              <a:rPr lang="zh-CN" altLang="en-US" sz="1600"/>
              <a:t>，即可触发</a:t>
            </a:r>
            <a:r>
              <a:rPr lang="en-US" altLang="zh-CN" sz="1600"/>
              <a:t>IAP</a:t>
            </a:r>
            <a:r>
              <a:rPr lang="zh-CN" altLang="en-US" sz="1600"/>
              <a:t>功能，让其根据</a:t>
            </a:r>
            <a:r>
              <a:rPr lang="en-US" altLang="zh-CN" sz="1600"/>
              <a:t>ISP_CMD</a:t>
            </a:r>
            <a:r>
              <a:rPr lang="zh-CN" altLang="en-US" sz="1600"/>
              <a:t>中的命令对</a:t>
            </a:r>
            <a:r>
              <a:rPr lang="en-US" altLang="zh-CN" sz="1600"/>
              <a:t>IAP</a:t>
            </a:r>
            <a:r>
              <a:rPr lang="zh-CN" altLang="en-US" sz="1600"/>
              <a:t>进行操作，代码如下。</a:t>
            </a:r>
          </a:p>
        </p:txBody>
      </p:sp>
      <p:sp>
        <p:nvSpPr>
          <p:cNvPr id="15" name="PA-文本框 4">
            <a:extLst>
              <a:ext uri="{FF2B5EF4-FFF2-40B4-BE49-F238E27FC236}">
                <a16:creationId xmlns:a16="http://schemas.microsoft.com/office/drawing/2014/main" id="{D011F0F5-A044-41A9-A5CC-CF477CF97A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016" y="3707757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2000"/>
              <a:t>IAP</a:t>
            </a:r>
            <a:r>
              <a:rPr lang="zh-CN" altLang="en-US" sz="2000"/>
              <a:t>功能禁用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005474-4A54-4079-AB21-581F598151D9}"/>
              </a:ext>
            </a:extLst>
          </p:cNvPr>
          <p:cNvSpPr/>
          <p:nvPr/>
        </p:nvSpPr>
        <p:spPr>
          <a:xfrm>
            <a:off x="555030" y="4892608"/>
            <a:ext cx="7833537" cy="7860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ISP_CONTR = 0x00;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禁用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读写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EEPROM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ISP_CMD   = 0x00;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待机模式，无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操作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ISP_TRIG  = 0x00;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关闭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功能</a:t>
            </a:r>
          </a:p>
        </p:txBody>
      </p:sp>
      <p:sp>
        <p:nvSpPr>
          <p:cNvPr id="21" name="PA-文本框 5">
            <a:extLst>
              <a:ext uri="{FF2B5EF4-FFF2-40B4-BE49-F238E27FC236}">
                <a16:creationId xmlns:a16="http://schemas.microsoft.com/office/drawing/2014/main" id="{18C61546-B92C-4425-A129-1B128677406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86186" y="4095368"/>
            <a:ext cx="10358091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扇区擦除完成后，需要将</a:t>
            </a:r>
            <a:r>
              <a:rPr lang="en-US" altLang="zh-CN" sz="1600"/>
              <a:t>IAP</a:t>
            </a:r>
            <a:r>
              <a:rPr lang="zh-CN" altLang="en-US" sz="1600"/>
              <a:t>功能禁用。对</a:t>
            </a:r>
            <a:r>
              <a:rPr lang="en-US" altLang="zh-CN" sz="1600"/>
              <a:t>ISP_CONTR</a:t>
            </a:r>
            <a:r>
              <a:rPr lang="zh-CN" altLang="en-US" sz="1600"/>
              <a:t>、</a:t>
            </a:r>
            <a:r>
              <a:rPr lang="en-US" altLang="zh-CN" sz="1600"/>
              <a:t>ISP_CMD</a:t>
            </a:r>
            <a:r>
              <a:rPr lang="zh-CN" altLang="en-US" sz="1600"/>
              <a:t>以及</a:t>
            </a:r>
            <a:r>
              <a:rPr lang="en-US" altLang="zh-CN" sz="1600"/>
              <a:t>ISP_TRIG</a:t>
            </a:r>
            <a:r>
              <a:rPr lang="zh-CN" altLang="en-US" sz="1600"/>
              <a:t>寄存器写入初始值</a:t>
            </a:r>
            <a:r>
              <a:rPr lang="en-US" altLang="zh-CN" sz="1600"/>
              <a:t>0x00</a:t>
            </a:r>
            <a:r>
              <a:rPr lang="zh-CN" altLang="en-US" sz="1600"/>
              <a:t>，即可禁用</a:t>
            </a:r>
            <a:r>
              <a:rPr lang="en-US" altLang="zh-CN" sz="1600"/>
              <a:t>IAP</a:t>
            </a:r>
            <a:r>
              <a:rPr lang="zh-CN" altLang="en-US" sz="1600"/>
              <a:t>功能。</a:t>
            </a:r>
          </a:p>
        </p:txBody>
      </p:sp>
    </p:spTree>
    <p:extLst>
      <p:ext uri="{BB962C8B-B14F-4D97-AF65-F5344CB8AC3E}">
        <p14:creationId xmlns:p14="http://schemas.microsoft.com/office/powerpoint/2010/main" val="1266166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416DCBE-63DC-4441-AF1F-B43999C9D17B}"/>
              </a:ext>
            </a:extLst>
          </p:cNvPr>
          <p:cNvSpPr txBox="1"/>
          <p:nvPr/>
        </p:nvSpPr>
        <p:spPr>
          <a:xfrm>
            <a:off x="555030" y="466088"/>
            <a:ext cx="27093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单字节写入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E7FC10-C3E7-4E53-9623-A17187B37560}"/>
              </a:ext>
            </a:extLst>
          </p:cNvPr>
          <p:cNvSpPr/>
          <p:nvPr/>
        </p:nvSpPr>
        <p:spPr>
          <a:xfrm>
            <a:off x="555030" y="2725131"/>
            <a:ext cx="5630350" cy="5017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ISP_CONTR=0x81;</a:t>
            </a:r>
          </a:p>
          <a:p>
            <a:pPr indent="361950"/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ISP_CMD = 0x01;</a:t>
            </a:r>
          </a:p>
        </p:txBody>
      </p:sp>
      <p:sp>
        <p:nvSpPr>
          <p:cNvPr id="6" name="PA-文本框 4">
            <a:extLst>
              <a:ext uri="{FF2B5EF4-FFF2-40B4-BE49-F238E27FC236}">
                <a16:creationId xmlns:a16="http://schemas.microsoft.com/office/drawing/2014/main" id="{FF368ACA-846C-498F-896F-014BC64AE3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5030" y="1173974"/>
            <a:ext cx="3882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打开</a:t>
            </a:r>
            <a:r>
              <a:rPr lang="en-US" altLang="zh-CN" sz="2000"/>
              <a:t>IAP</a:t>
            </a:r>
            <a:r>
              <a:rPr lang="zh-CN" altLang="en-US" sz="2000"/>
              <a:t>功能，并写入“写”命令</a:t>
            </a:r>
          </a:p>
        </p:txBody>
      </p:sp>
      <p:sp>
        <p:nvSpPr>
          <p:cNvPr id="7" name="PA-文本框 5">
            <a:extLst>
              <a:ext uri="{FF2B5EF4-FFF2-40B4-BE49-F238E27FC236}">
                <a16:creationId xmlns:a16="http://schemas.microsoft.com/office/drawing/2014/main" id="{6B635DA0-9BE9-4431-9BA5-40A803087D2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5030" y="1560233"/>
            <a:ext cx="10358091" cy="10295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对</a:t>
            </a:r>
            <a:r>
              <a:rPr lang="en-US" altLang="zh-CN" sz="1600"/>
              <a:t>ISP_CONTR</a:t>
            </a:r>
            <a:r>
              <a:rPr lang="zh-CN" altLang="en-US" sz="1600"/>
              <a:t>寄存器中的</a:t>
            </a:r>
            <a:r>
              <a:rPr lang="en-US" altLang="zh-CN" sz="1600"/>
              <a:t>ISPEN</a:t>
            </a:r>
            <a:r>
              <a:rPr lang="zh-CN" altLang="en-US" sz="1600"/>
              <a:t>位写</a:t>
            </a:r>
            <a:r>
              <a:rPr lang="en-US" altLang="zh-CN" sz="1600"/>
              <a:t>1</a:t>
            </a:r>
            <a:r>
              <a:rPr lang="zh-CN" altLang="en-US" sz="1600"/>
              <a:t>打开</a:t>
            </a:r>
            <a:r>
              <a:rPr lang="en-US" altLang="zh-CN" sz="1600"/>
              <a:t>IAP</a:t>
            </a:r>
            <a:r>
              <a:rPr lang="zh-CN" altLang="en-US" sz="1600"/>
              <a:t>功能，并对</a:t>
            </a:r>
            <a:r>
              <a:rPr lang="en-US" altLang="zh-CN" sz="1600"/>
              <a:t>WT2</a:t>
            </a:r>
            <a:r>
              <a:rPr lang="zh-CN" altLang="en-US" sz="1600"/>
              <a:t>、</a:t>
            </a:r>
            <a:r>
              <a:rPr lang="en-US" altLang="zh-CN" sz="1600"/>
              <a:t>WT1</a:t>
            </a:r>
            <a:r>
              <a:rPr lang="zh-CN" altLang="en-US" sz="1600"/>
              <a:t>以及</a:t>
            </a:r>
            <a:r>
              <a:rPr lang="en-US" altLang="zh-CN" sz="1600"/>
              <a:t>WT0</a:t>
            </a:r>
            <a:r>
              <a:rPr lang="zh-CN" altLang="en-US" sz="1600"/>
              <a:t>位分别写入</a:t>
            </a:r>
            <a:r>
              <a:rPr lang="en-US" altLang="zh-CN" sz="1600"/>
              <a:t>0</a:t>
            </a:r>
            <a:r>
              <a:rPr lang="zh-CN" altLang="en-US" sz="1600"/>
              <a:t>、</a:t>
            </a:r>
            <a:r>
              <a:rPr lang="en-US" altLang="zh-CN" sz="1600"/>
              <a:t>0</a:t>
            </a:r>
            <a:r>
              <a:rPr lang="zh-CN" altLang="en-US" sz="1600"/>
              <a:t>、</a:t>
            </a:r>
            <a:r>
              <a:rPr lang="en-US" altLang="zh-CN" sz="1600"/>
              <a:t>1</a:t>
            </a:r>
            <a:r>
              <a:rPr lang="zh-CN" altLang="en-US" sz="1600"/>
              <a:t>设置</a:t>
            </a:r>
            <a:r>
              <a:rPr lang="en-US" altLang="zh-CN" sz="1600"/>
              <a:t>Data Flash</a:t>
            </a:r>
            <a:r>
              <a:rPr lang="zh-CN" altLang="en-US" sz="1600"/>
              <a:t>操作等待时间。对</a:t>
            </a:r>
            <a:r>
              <a:rPr lang="en-US" altLang="zh-CN" sz="1600"/>
              <a:t>ISP_CMD</a:t>
            </a:r>
            <a:r>
              <a:rPr lang="zh-CN" altLang="en-US" sz="1600"/>
              <a:t>寄存器中的</a:t>
            </a:r>
            <a:r>
              <a:rPr lang="en-US" altLang="zh-CN" sz="1600"/>
              <a:t>MS1</a:t>
            </a:r>
            <a:r>
              <a:rPr lang="zh-CN" altLang="en-US" sz="1600"/>
              <a:t>、</a:t>
            </a:r>
            <a:r>
              <a:rPr lang="en-US" altLang="zh-CN" sz="1600"/>
              <a:t>MS0</a:t>
            </a:r>
            <a:r>
              <a:rPr lang="zh-CN" altLang="en-US" sz="1600"/>
              <a:t>位分别写入</a:t>
            </a:r>
            <a:r>
              <a:rPr lang="en-US" altLang="zh-CN" sz="1600"/>
              <a:t>1</a:t>
            </a:r>
            <a:r>
              <a:rPr lang="zh-CN" altLang="en-US" sz="1600"/>
              <a:t>和</a:t>
            </a:r>
            <a:r>
              <a:rPr lang="en-US" altLang="zh-CN" sz="1600"/>
              <a:t>0</a:t>
            </a:r>
            <a:r>
              <a:rPr lang="zh-CN" altLang="en-US" sz="1600"/>
              <a:t>，允许对</a:t>
            </a:r>
            <a:r>
              <a:rPr lang="en-US" altLang="zh-CN" sz="1600"/>
              <a:t>"Data Flash/EEPROM</a:t>
            </a:r>
            <a:r>
              <a:rPr lang="zh-CN" altLang="en-US" sz="1600"/>
              <a:t>区</a:t>
            </a:r>
            <a:r>
              <a:rPr lang="en-US" altLang="zh-CN" sz="1600"/>
              <a:t>"</a:t>
            </a:r>
            <a:r>
              <a:rPr lang="zh-CN" altLang="en-US" sz="1600"/>
              <a:t>进行字节写入</a:t>
            </a:r>
          </a:p>
        </p:txBody>
      </p:sp>
      <p:sp>
        <p:nvSpPr>
          <p:cNvPr id="8" name="PA-文本框 4">
            <a:extLst>
              <a:ext uri="{FF2B5EF4-FFF2-40B4-BE49-F238E27FC236}">
                <a16:creationId xmlns:a16="http://schemas.microsoft.com/office/drawing/2014/main" id="{57337DD3-18AA-4D2F-9F4D-93DDE0AE13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5030" y="3362263"/>
            <a:ext cx="2372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>
                <a:solidFill>
                  <a:srgbClr val="FF0000"/>
                </a:solidFill>
              </a:rPr>
              <a:t>写入</a:t>
            </a:r>
            <a:r>
              <a:rPr lang="en-US" altLang="zh-CN" sz="2000">
                <a:solidFill>
                  <a:srgbClr val="FF0000"/>
                </a:solidFill>
              </a:rPr>
              <a:t>IAP</a:t>
            </a:r>
            <a:r>
              <a:rPr lang="zh-CN" altLang="en-US" sz="2000">
                <a:solidFill>
                  <a:srgbClr val="FF0000"/>
                </a:solidFill>
              </a:rPr>
              <a:t>操作的地址</a:t>
            </a:r>
          </a:p>
        </p:txBody>
      </p:sp>
      <p:sp>
        <p:nvSpPr>
          <p:cNvPr id="11" name="PA-文本框 5">
            <a:extLst>
              <a:ext uri="{FF2B5EF4-FFF2-40B4-BE49-F238E27FC236}">
                <a16:creationId xmlns:a16="http://schemas.microsoft.com/office/drawing/2014/main" id="{524E1EEC-A368-4335-969C-AD1A3B1FC73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5030" y="3753498"/>
            <a:ext cx="10358091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假设需要写入的地址为</a:t>
            </a:r>
            <a:r>
              <a:rPr lang="en-US" altLang="zh-CN" sz="1600"/>
              <a:t>addr</a:t>
            </a:r>
            <a:r>
              <a:rPr lang="zh-CN" altLang="en-US" sz="1600"/>
              <a:t>（</a:t>
            </a:r>
            <a:r>
              <a:rPr lang="en-US" altLang="zh-CN" sz="1600"/>
              <a:t>4</a:t>
            </a:r>
            <a:r>
              <a:rPr lang="zh-CN" altLang="en-US" sz="1600"/>
              <a:t>位十六进制数），将</a:t>
            </a:r>
            <a:r>
              <a:rPr lang="en-US" altLang="zh-CN" sz="1600"/>
              <a:t>addr</a:t>
            </a:r>
            <a:r>
              <a:rPr lang="zh-CN" altLang="en-US" sz="1600"/>
              <a:t>的低位赋值给</a:t>
            </a:r>
            <a:r>
              <a:rPr lang="en-US" altLang="zh-CN" sz="1600"/>
              <a:t>ISP_ADDRL</a:t>
            </a:r>
            <a:r>
              <a:rPr lang="zh-CN" altLang="en-US" sz="1600"/>
              <a:t>寄存器，</a:t>
            </a:r>
            <a:r>
              <a:rPr lang="en-US" altLang="zh-CN" sz="1600"/>
              <a:t>addr</a:t>
            </a:r>
            <a:r>
              <a:rPr lang="zh-CN" altLang="en-US" sz="1600"/>
              <a:t>的高位赋值给</a:t>
            </a:r>
            <a:r>
              <a:rPr lang="en-US" altLang="zh-CN" sz="1600"/>
              <a:t>ISP_ADDRH</a:t>
            </a:r>
            <a:r>
              <a:rPr lang="zh-CN" altLang="en-US" sz="1600"/>
              <a:t>寄存器，代码如下。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783233-2322-442B-9AC6-1CD7F46B7FB3}"/>
              </a:ext>
            </a:extLst>
          </p:cNvPr>
          <p:cNvSpPr/>
          <p:nvPr/>
        </p:nvSpPr>
        <p:spPr>
          <a:xfrm>
            <a:off x="555030" y="4603284"/>
            <a:ext cx="5630350" cy="5017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ISP_ADDRL = addr;     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写入</a:t>
            </a:r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操作地址寄存器低位</a:t>
            </a:r>
          </a:p>
          <a:p>
            <a:pPr indent="361950"/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ISP_ADDRH = addr &gt;&gt; 8;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写入</a:t>
            </a:r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操作地址寄存器低位</a:t>
            </a:r>
          </a:p>
        </p:txBody>
      </p:sp>
    </p:spTree>
    <p:extLst>
      <p:ext uri="{BB962C8B-B14F-4D97-AF65-F5344CB8AC3E}">
        <p14:creationId xmlns:p14="http://schemas.microsoft.com/office/powerpoint/2010/main" val="3757573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416DCBE-63DC-4441-AF1F-B43999C9D17B}"/>
              </a:ext>
            </a:extLst>
          </p:cNvPr>
          <p:cNvSpPr txBox="1"/>
          <p:nvPr/>
        </p:nvSpPr>
        <p:spPr>
          <a:xfrm>
            <a:off x="555030" y="466088"/>
            <a:ext cx="27093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单字节写入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E7FC10-C3E7-4E53-9623-A17187B37560}"/>
              </a:ext>
            </a:extLst>
          </p:cNvPr>
          <p:cNvSpPr/>
          <p:nvPr/>
        </p:nvSpPr>
        <p:spPr>
          <a:xfrm>
            <a:off x="555030" y="2348499"/>
            <a:ext cx="5630350" cy="3327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 ISP_DATA = dat;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将需要写入的数据放进</a:t>
            </a:r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ISP_DATA</a:t>
            </a:r>
          </a:p>
        </p:txBody>
      </p:sp>
      <p:sp>
        <p:nvSpPr>
          <p:cNvPr id="6" name="PA-文本框 4">
            <a:extLst>
              <a:ext uri="{FF2B5EF4-FFF2-40B4-BE49-F238E27FC236}">
                <a16:creationId xmlns:a16="http://schemas.microsoft.com/office/drawing/2014/main" id="{FF368ACA-846C-498F-896F-014BC64AE3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5030" y="1173974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>
                <a:solidFill>
                  <a:srgbClr val="FF0000"/>
                </a:solidFill>
              </a:rPr>
              <a:t>写入数据</a:t>
            </a:r>
          </a:p>
        </p:txBody>
      </p:sp>
      <p:sp>
        <p:nvSpPr>
          <p:cNvPr id="7" name="PA-文本框 5">
            <a:extLst>
              <a:ext uri="{FF2B5EF4-FFF2-40B4-BE49-F238E27FC236}">
                <a16:creationId xmlns:a16="http://schemas.microsoft.com/office/drawing/2014/main" id="{6B635DA0-9BE9-4431-9BA5-40A803087D2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5030" y="1560233"/>
            <a:ext cx="10358091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假设已经将需要写入的数据存入</a:t>
            </a:r>
            <a:r>
              <a:rPr lang="en-US" altLang="zh-CN" sz="1600"/>
              <a:t>unsigned char</a:t>
            </a:r>
            <a:r>
              <a:rPr lang="zh-CN" altLang="en-US" sz="1600"/>
              <a:t>型的变量</a:t>
            </a:r>
            <a:r>
              <a:rPr lang="en-US" altLang="zh-CN" sz="1600"/>
              <a:t>dat</a:t>
            </a:r>
            <a:r>
              <a:rPr lang="zh-CN" altLang="en-US" sz="1600"/>
              <a:t>，使用以下代码将需要写入的数据放进</a:t>
            </a:r>
            <a:r>
              <a:rPr lang="en-US" altLang="zh-CN" sz="1600"/>
              <a:t>ISP_DATA</a:t>
            </a:r>
            <a:r>
              <a:rPr lang="zh-CN" altLang="en-US" sz="1600"/>
              <a:t>寄存器。</a:t>
            </a:r>
          </a:p>
        </p:txBody>
      </p:sp>
      <p:sp>
        <p:nvSpPr>
          <p:cNvPr id="8" name="PA-文本框 4">
            <a:extLst>
              <a:ext uri="{FF2B5EF4-FFF2-40B4-BE49-F238E27FC236}">
                <a16:creationId xmlns:a16="http://schemas.microsoft.com/office/drawing/2014/main" id="{57337DD3-18AA-4D2F-9F4D-93DDE0AE13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5030" y="2811340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2000">
                <a:solidFill>
                  <a:srgbClr val="FF0000"/>
                </a:solidFill>
              </a:rPr>
              <a:t>IAP</a:t>
            </a:r>
            <a:r>
              <a:rPr lang="zh-CN" altLang="en-US" sz="2000">
                <a:solidFill>
                  <a:srgbClr val="FF0000"/>
                </a:solidFill>
              </a:rPr>
              <a:t>功能触发</a:t>
            </a:r>
          </a:p>
        </p:txBody>
      </p:sp>
      <p:sp>
        <p:nvSpPr>
          <p:cNvPr id="11" name="PA-文本框 5">
            <a:extLst>
              <a:ext uri="{FF2B5EF4-FFF2-40B4-BE49-F238E27FC236}">
                <a16:creationId xmlns:a16="http://schemas.microsoft.com/office/drawing/2014/main" id="{524E1EEC-A368-4335-969C-AD1A3B1FC73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5030" y="3211450"/>
            <a:ext cx="10358091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对</a:t>
            </a:r>
            <a:r>
              <a:rPr lang="en-US" altLang="zh-CN" sz="1600"/>
              <a:t>ISP_TRIG</a:t>
            </a:r>
            <a:r>
              <a:rPr lang="zh-CN" altLang="en-US" sz="1600"/>
              <a:t>寄存器连续写入</a:t>
            </a:r>
            <a:r>
              <a:rPr lang="en-US" altLang="zh-CN" sz="1600"/>
              <a:t>0x46</a:t>
            </a:r>
            <a:r>
              <a:rPr lang="zh-CN" altLang="en-US" sz="1600"/>
              <a:t>和</a:t>
            </a:r>
            <a:r>
              <a:rPr lang="en-US" altLang="zh-CN" sz="1600"/>
              <a:t>0xB9</a:t>
            </a:r>
            <a:r>
              <a:rPr lang="zh-CN" altLang="en-US" sz="1600"/>
              <a:t>，即可触发</a:t>
            </a:r>
            <a:r>
              <a:rPr lang="en-US" altLang="zh-CN" sz="1600"/>
              <a:t>IAP</a:t>
            </a:r>
            <a:r>
              <a:rPr lang="zh-CN" altLang="en-US" sz="1600"/>
              <a:t>功能，让其根据</a:t>
            </a:r>
            <a:r>
              <a:rPr lang="en-US" altLang="zh-CN" sz="1600"/>
              <a:t>ISP_CMD</a:t>
            </a:r>
            <a:r>
              <a:rPr lang="zh-CN" altLang="en-US" sz="1600"/>
              <a:t>中的命令对</a:t>
            </a:r>
            <a:r>
              <a:rPr lang="en-US" altLang="zh-CN" sz="1600"/>
              <a:t>EEPROM</a:t>
            </a:r>
            <a:r>
              <a:rPr lang="zh-CN" altLang="en-US" sz="1600"/>
              <a:t>区进行相应的操作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783233-2322-442B-9AC6-1CD7F46B7FB3}"/>
              </a:ext>
            </a:extLst>
          </p:cNvPr>
          <p:cNvSpPr/>
          <p:nvPr/>
        </p:nvSpPr>
        <p:spPr>
          <a:xfrm>
            <a:off x="555030" y="3949286"/>
            <a:ext cx="5630350" cy="5017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ISP_TRIG = 0x46;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对</a:t>
            </a:r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ISP_TRIG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寄存器写入触发命令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x46</a:t>
            </a:r>
          </a:p>
          <a:p>
            <a:pPr indent="361950"/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ISP_TRIG = 0xB9;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对</a:t>
            </a:r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ISP_TRIG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寄存器写入触发命令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it-IT" altLang="zh-CN" sz="1400">
                <a:solidFill>
                  <a:schemeClr val="accent1">
                    <a:lumMod val="75000"/>
                  </a:schemeClr>
                </a:solidFill>
              </a:rPr>
              <a:t>xB9</a:t>
            </a:r>
          </a:p>
        </p:txBody>
      </p:sp>
      <p:sp>
        <p:nvSpPr>
          <p:cNvPr id="9" name="PA-文本框 4">
            <a:extLst>
              <a:ext uri="{FF2B5EF4-FFF2-40B4-BE49-F238E27FC236}">
                <a16:creationId xmlns:a16="http://schemas.microsoft.com/office/drawing/2014/main" id="{5AE00416-F4BB-4327-8919-8920E6B05CE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5030" y="4637247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2000"/>
              <a:t>IAP</a:t>
            </a:r>
            <a:r>
              <a:rPr lang="zh-CN" altLang="en-US" sz="2000"/>
              <a:t>功能禁用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158034-B461-4208-9DD9-FB3FDE48B929}"/>
              </a:ext>
            </a:extLst>
          </p:cNvPr>
          <p:cNvSpPr/>
          <p:nvPr/>
        </p:nvSpPr>
        <p:spPr>
          <a:xfrm>
            <a:off x="555030" y="5084275"/>
            <a:ext cx="7833537" cy="7860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ISP_CONTR = 0x00;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禁用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读写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EEPROM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ISP_CMD   = 0x00;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待机模式，无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操作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ISP_TRIG  = 0x00;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关闭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IAP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功能</a:t>
            </a:r>
          </a:p>
        </p:txBody>
      </p:sp>
    </p:spTree>
    <p:extLst>
      <p:ext uri="{BB962C8B-B14F-4D97-AF65-F5344CB8AC3E}">
        <p14:creationId xmlns:p14="http://schemas.microsoft.com/office/powerpoint/2010/main" val="1497936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8378065" cy="1739256"/>
                <a:chOff x="-15896" y="866380"/>
                <a:chExt cx="8378065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8024954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Flash</a:t>
                  </a:r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读写注意事项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2124299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12.4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31174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416DCBE-63DC-4441-AF1F-B43999C9D17B}"/>
              </a:ext>
            </a:extLst>
          </p:cNvPr>
          <p:cNvSpPr txBox="1"/>
          <p:nvPr/>
        </p:nvSpPr>
        <p:spPr>
          <a:xfrm>
            <a:off x="555030" y="466088"/>
            <a:ext cx="4541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>
                <a:solidFill>
                  <a:schemeClr val="accent1"/>
                </a:solidFill>
                <a:latin typeface="+mj-ea"/>
                <a:ea typeface="+mj-ea"/>
              </a:rPr>
              <a:t>Flash</a:t>
            </a:r>
            <a:r>
              <a:rPr lang="zh-CN" altLang="en-US" sz="4000">
                <a:solidFill>
                  <a:schemeClr val="accent1"/>
                </a:solidFill>
                <a:latin typeface="+mj-ea"/>
                <a:ea typeface="+mj-ea"/>
              </a:rPr>
              <a:t>读写注意事项</a:t>
            </a:r>
          </a:p>
        </p:txBody>
      </p:sp>
      <p:sp>
        <p:nvSpPr>
          <p:cNvPr id="7" name="PA-文本框 5">
            <a:extLst>
              <a:ext uri="{FF2B5EF4-FFF2-40B4-BE49-F238E27FC236}">
                <a16:creationId xmlns:a16="http://schemas.microsoft.com/office/drawing/2014/main" id="{6B635DA0-9BE9-4431-9BA5-40A803087D2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5030" y="1173974"/>
            <a:ext cx="10358091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（</a:t>
            </a:r>
            <a:r>
              <a:rPr lang="en-US" altLang="zh-CN" sz="1600"/>
              <a:t>1</a:t>
            </a:r>
            <a:r>
              <a:rPr lang="zh-CN" altLang="en-US" sz="1600"/>
              <a:t>）必须先对扇区进行擦除，再写入。</a:t>
            </a:r>
          </a:p>
          <a:p>
            <a:r>
              <a:rPr lang="zh-CN" altLang="en-US" sz="1600"/>
              <a:t>（</a:t>
            </a:r>
            <a:r>
              <a:rPr lang="en-US" altLang="zh-CN" sz="1600"/>
              <a:t>2</a:t>
            </a:r>
            <a:r>
              <a:rPr lang="zh-CN" altLang="en-US" sz="1600"/>
              <a:t>）在单片机工作电压偏低时，不建议进行</a:t>
            </a:r>
            <a:r>
              <a:rPr lang="en-US" altLang="zh-CN" sz="1600"/>
              <a:t>IAP</a:t>
            </a:r>
            <a:r>
              <a:rPr lang="zh-CN" altLang="en-US" sz="1600"/>
              <a:t>读写</a:t>
            </a:r>
            <a:r>
              <a:rPr lang="en-US" altLang="zh-CN" sz="1600"/>
              <a:t>Flash</a:t>
            </a:r>
            <a:r>
              <a:rPr lang="zh-CN" altLang="en-US" sz="1600"/>
              <a:t>操作。</a:t>
            </a:r>
          </a:p>
          <a:p>
            <a:r>
              <a:rPr lang="zh-CN" altLang="en-US" sz="1600"/>
              <a:t>（</a:t>
            </a:r>
            <a:r>
              <a:rPr lang="en-US" altLang="zh-CN" sz="1600"/>
              <a:t>3</a:t>
            </a:r>
            <a:r>
              <a:rPr lang="zh-CN" altLang="en-US" sz="1600"/>
              <a:t>）由于</a:t>
            </a:r>
            <a:r>
              <a:rPr lang="en-US" altLang="zh-CN" sz="1600"/>
              <a:t>IAP</a:t>
            </a:r>
            <a:r>
              <a:rPr lang="zh-CN" altLang="en-US" sz="1600"/>
              <a:t>操作仅支持以字节方式读取或写入，建议需要同一次修改的数据放在同一个扇区中，不需要同一次修改的数据放在其他扇区，不需要把扇区中的</a:t>
            </a:r>
            <a:r>
              <a:rPr lang="en-US" altLang="zh-CN" sz="1600"/>
              <a:t>512</a:t>
            </a:r>
            <a:r>
              <a:rPr lang="zh-CN" altLang="en-US" sz="1600"/>
              <a:t>字节都用满。如果在一个扇区内存放了大量的数据，需要修改其中的一小部分时，则需要先将该扇区中的数据读出至</a:t>
            </a:r>
            <a:r>
              <a:rPr lang="en-US" altLang="zh-CN" sz="1600"/>
              <a:t>RAM</a:t>
            </a:r>
            <a:r>
              <a:rPr lang="zh-CN" altLang="en-US" sz="1600"/>
              <a:t>中，然后擦除整个扇区，再将数据从</a:t>
            </a:r>
            <a:r>
              <a:rPr lang="en-US" altLang="zh-CN" sz="1600"/>
              <a:t>RAM</a:t>
            </a:r>
            <a:r>
              <a:rPr lang="zh-CN" altLang="en-US" sz="1600"/>
              <a:t>写入至</a:t>
            </a:r>
            <a:r>
              <a:rPr lang="en-US" altLang="zh-CN" sz="1600"/>
              <a:t>Flash</a:t>
            </a:r>
            <a:r>
              <a:rPr lang="zh-CN" altLang="en-US" sz="1600"/>
              <a:t>中。</a:t>
            </a:r>
          </a:p>
          <a:p>
            <a:r>
              <a:rPr lang="zh-CN" altLang="en-US" sz="1600"/>
              <a:t>（</a:t>
            </a:r>
            <a:r>
              <a:rPr lang="en-US" altLang="zh-CN" sz="1600"/>
              <a:t>4</a:t>
            </a:r>
            <a:r>
              <a:rPr lang="zh-CN" altLang="en-US" sz="1600"/>
              <a:t>）在</a:t>
            </a:r>
            <a:r>
              <a:rPr lang="en-US" altLang="zh-CN" sz="1600"/>
              <a:t>STC-ISP</a:t>
            </a:r>
            <a:r>
              <a:rPr lang="zh-CN" altLang="en-US" sz="1600"/>
              <a:t>软件中，可以在下载程序时对</a:t>
            </a:r>
            <a:r>
              <a:rPr lang="en-US" altLang="zh-CN" sz="1600"/>
              <a:t>EEPROM</a:t>
            </a:r>
            <a:r>
              <a:rPr lang="zh-CN" altLang="en-US" sz="1600"/>
              <a:t>区进行擦除。在勾选“本次下载需要修改硬件选项”后，如果勾选“下次下载用户程序时擦除用户</a:t>
            </a:r>
            <a:r>
              <a:rPr lang="en-US" altLang="zh-CN" sz="1600"/>
              <a:t>EEPROM</a:t>
            </a:r>
            <a:r>
              <a:rPr lang="zh-CN" altLang="en-US" sz="1600"/>
              <a:t>区”选项，则</a:t>
            </a:r>
            <a:r>
              <a:rPr lang="en-US" altLang="zh-CN" sz="1600"/>
              <a:t>EEPROM</a:t>
            </a:r>
            <a:r>
              <a:rPr lang="zh-CN" altLang="en-US" sz="1600"/>
              <a:t>区中的所有内容将会被擦除。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0FE347-AEFC-4B3C-9620-3FA79195B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60" y="3868986"/>
            <a:ext cx="2453815" cy="220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9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6900096" cy="1739256"/>
                <a:chOff x="-15896" y="866380"/>
                <a:chExt cx="6900096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654698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实例与代码解析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2124299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12.5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67399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4501553" cy="904715"/>
            <a:chOff x="482600" y="439828"/>
            <a:chExt cx="4501553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450155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实例</a:t>
              </a:r>
              <a:r>
                <a:rPr lang="en-US" altLang="zh-CN" sz="4000">
                  <a:solidFill>
                    <a:schemeClr val="accent1"/>
                  </a:solidFill>
                  <a:latin typeface="+mj-ea"/>
                  <a:ea typeface="+mj-ea"/>
                </a:rPr>
                <a:t>-LED</a:t>
              </a:r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状态记录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9220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Example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0" name="PA-文本框 5">
            <a:extLst>
              <a:ext uri="{FF2B5EF4-FFF2-40B4-BE49-F238E27FC236}">
                <a16:creationId xmlns:a16="http://schemas.microsoft.com/office/drawing/2014/main" id="{F30F2B45-C872-4B36-AA3D-54EDD20580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82600" y="3634281"/>
            <a:ext cx="4718050" cy="21300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150000"/>
              </a:lnSpc>
            </a:pPr>
            <a:r>
              <a:rPr lang="zh-CN" altLang="en-US" sz="1800"/>
              <a:t>（</a:t>
            </a:r>
            <a:r>
              <a:rPr lang="en-US" altLang="zh-CN" sz="1800"/>
              <a:t>1</a:t>
            </a:r>
            <a:r>
              <a:rPr lang="zh-CN" altLang="en-US" sz="1800"/>
              <a:t>）添加并编写</a:t>
            </a:r>
            <a:r>
              <a:rPr lang="en-US" altLang="zh-CN" sz="1800"/>
              <a:t>EEPROM</a:t>
            </a:r>
            <a:r>
              <a:rPr lang="zh-CN" altLang="en-US" sz="1800"/>
              <a:t>文件对。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（</a:t>
            </a:r>
            <a:r>
              <a:rPr lang="en-US" altLang="zh-CN" sz="1800"/>
              <a:t>2</a:t>
            </a:r>
            <a:r>
              <a:rPr lang="zh-CN" altLang="en-US" sz="1800"/>
              <a:t>）编写</a:t>
            </a:r>
            <a:r>
              <a:rPr lang="en-US" altLang="zh-CN" sz="1800"/>
              <a:t>IAP</a:t>
            </a:r>
            <a:r>
              <a:rPr lang="zh-CN" altLang="en-US" sz="1800"/>
              <a:t>触发与禁用函数。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（</a:t>
            </a:r>
            <a:r>
              <a:rPr lang="en-US" altLang="zh-CN" sz="1800"/>
              <a:t>3</a:t>
            </a:r>
            <a:r>
              <a:rPr lang="zh-CN" altLang="en-US" sz="1800"/>
              <a:t>）编写</a:t>
            </a:r>
            <a:r>
              <a:rPr lang="en-US" altLang="zh-CN" sz="1800"/>
              <a:t>EEPROM</a:t>
            </a:r>
            <a:r>
              <a:rPr lang="zh-CN" altLang="en-US" sz="1800"/>
              <a:t>区读写与擦除操作函数。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（</a:t>
            </a:r>
            <a:r>
              <a:rPr lang="en-US" altLang="zh-CN" sz="1800"/>
              <a:t>4</a:t>
            </a:r>
            <a:r>
              <a:rPr lang="zh-CN" altLang="en-US" sz="1800"/>
              <a:t>）在独立按键实例的基础上，添加</a:t>
            </a:r>
            <a:r>
              <a:rPr lang="en-US" altLang="zh-CN" sz="1800"/>
              <a:t>EEPROM</a:t>
            </a:r>
            <a:r>
              <a:rPr lang="zh-CN" altLang="en-US" sz="1800"/>
              <a:t>读写操作。</a:t>
            </a:r>
          </a:p>
        </p:txBody>
      </p:sp>
      <p:sp>
        <p:nvSpPr>
          <p:cNvPr id="11" name="PA-文本框 4">
            <a:extLst>
              <a:ext uri="{FF2B5EF4-FFF2-40B4-BE49-F238E27FC236}">
                <a16:creationId xmlns:a16="http://schemas.microsoft.com/office/drawing/2014/main" id="{877E1089-34A3-48A6-B278-56FBAA1936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2406" y="3262312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编程要点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4212E1F-B4F6-44F6-A70C-2C4F25D1E7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603390"/>
              </p:ext>
            </p:extLst>
          </p:nvPr>
        </p:nvGraphicFramePr>
        <p:xfrm>
          <a:off x="5411180" y="1064129"/>
          <a:ext cx="6619596" cy="4729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Visio" r:id="rId7" imgW="4456743" imgH="3214634" progId="Visio.Drawing.11">
                  <p:embed/>
                </p:oleObj>
              </mc:Choice>
              <mc:Fallback>
                <p:oleObj name="Visio" r:id="rId7" imgW="4456743" imgH="3214634" progId="Visio.Drawing.11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180" y="1064129"/>
                        <a:ext cx="6619596" cy="47297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A-文本框 5">
            <a:extLst>
              <a:ext uri="{FF2B5EF4-FFF2-40B4-BE49-F238E27FC236}">
                <a16:creationId xmlns:a16="http://schemas.microsoft.com/office/drawing/2014/main" id="{E62A5C1E-6053-4788-A24B-8B71F869C19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2600" y="1446173"/>
            <a:ext cx="4718050" cy="17145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150000"/>
              </a:lnSpc>
            </a:pPr>
            <a:r>
              <a:rPr lang="zh-CN" altLang="en-US" sz="1800"/>
              <a:t>在第</a:t>
            </a:r>
            <a:r>
              <a:rPr lang="en-US" altLang="zh-CN" sz="1800"/>
              <a:t>4</a:t>
            </a:r>
            <a:r>
              <a:rPr lang="zh-CN" altLang="en-US" sz="1800"/>
              <a:t>章独立按键输入实例的基础上，编写程序实现内部</a:t>
            </a:r>
            <a:r>
              <a:rPr lang="en-US" altLang="zh-CN" sz="1800"/>
              <a:t>Flash</a:t>
            </a:r>
            <a:r>
              <a:rPr lang="zh-CN" altLang="en-US" sz="1800"/>
              <a:t>的读写与擦除操作，记录下</a:t>
            </a:r>
            <a:r>
              <a:rPr lang="en-US" altLang="zh-CN" sz="1800"/>
              <a:t>LED</a:t>
            </a:r>
            <a:r>
              <a:rPr lang="zh-CN" altLang="en-US" sz="1800"/>
              <a:t>灯的亮灭状态，并能在重新通电复位后，恢复断电前</a:t>
            </a:r>
            <a:r>
              <a:rPr lang="en-US" altLang="zh-CN" sz="1800"/>
              <a:t>LED</a:t>
            </a:r>
            <a:r>
              <a:rPr lang="zh-CN" altLang="en-US" sz="1800"/>
              <a:t>灯的亮灭状态。</a:t>
            </a:r>
          </a:p>
        </p:txBody>
      </p:sp>
    </p:spTree>
    <p:extLst>
      <p:ext uri="{BB962C8B-B14F-4D97-AF65-F5344CB8AC3E}">
        <p14:creationId xmlns:p14="http://schemas.microsoft.com/office/powerpoint/2010/main" val="438590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2204450" cy="904715"/>
            <a:chOff x="482600" y="439828"/>
            <a:chExt cx="2204450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22044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应用实践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6559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Tasks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6" name="PA-文本框 5">
            <a:extLst>
              <a:ext uri="{FF2B5EF4-FFF2-40B4-BE49-F238E27FC236}">
                <a16:creationId xmlns:a16="http://schemas.microsoft.com/office/drawing/2014/main" id="{358038A7-8707-4C25-B76A-317163DDDEA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5184" y="1541372"/>
            <a:ext cx="10250764" cy="21300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150000"/>
              </a:lnSpc>
            </a:pPr>
            <a:r>
              <a:rPr lang="en-US" altLang="zh-CN" sz="1800"/>
              <a:t>1</a:t>
            </a:r>
            <a:r>
              <a:rPr lang="zh-CN" altLang="en-US" sz="1800"/>
              <a:t>．基于按键计数器任务，将按键的计数结果保存至内部</a:t>
            </a:r>
            <a:r>
              <a:rPr lang="en-US" altLang="zh-CN" sz="1800"/>
              <a:t>EEPROM</a:t>
            </a:r>
            <a:r>
              <a:rPr lang="zh-CN" altLang="en-US" sz="1800"/>
              <a:t>中。要求在</a:t>
            </a:r>
            <a:r>
              <a:rPr lang="en-US" altLang="zh-CN" sz="1800"/>
              <a:t>51</a:t>
            </a:r>
            <a:r>
              <a:rPr lang="zh-CN" altLang="en-US" sz="1800"/>
              <a:t>核心板重新上电或复位后，计数结果不归零，并且记录范围为</a:t>
            </a:r>
            <a:r>
              <a:rPr lang="en-US" altLang="zh-CN" sz="1800"/>
              <a:t>0~255</a:t>
            </a:r>
            <a:r>
              <a:rPr lang="zh-CN" altLang="en-US" sz="1800"/>
              <a:t>。</a:t>
            </a:r>
            <a:endParaRPr lang="en-US" altLang="zh-CN" sz="1800"/>
          </a:p>
          <a:p>
            <a:pPr>
              <a:lnSpc>
                <a:spcPct val="150000"/>
              </a:lnSpc>
            </a:pPr>
            <a:endParaRPr lang="zh-CN" altLang="en-US" sz="1800"/>
          </a:p>
          <a:p>
            <a:pPr>
              <a:lnSpc>
                <a:spcPct val="150000"/>
              </a:lnSpc>
            </a:pPr>
            <a:r>
              <a:rPr lang="en-US" altLang="zh-CN" sz="1800"/>
              <a:t>2</a:t>
            </a:r>
            <a:r>
              <a:rPr lang="zh-CN" altLang="en-US" sz="1800"/>
              <a:t>．实现</a:t>
            </a:r>
            <a:r>
              <a:rPr lang="en-US" altLang="zh-CN" sz="1800"/>
              <a:t>EEPROM</a:t>
            </a:r>
            <a:r>
              <a:rPr lang="zh-CN" altLang="en-US" sz="1800"/>
              <a:t>的连续写入与读取。（任务提示：配置</a:t>
            </a:r>
            <a:r>
              <a:rPr lang="en-US" altLang="zh-CN" sz="1800"/>
              <a:t>ISP</a:t>
            </a:r>
            <a:r>
              <a:rPr lang="zh-CN" altLang="en-US" sz="1800"/>
              <a:t>寄存器后，循环写入操作地址、操作数，并循环触发</a:t>
            </a:r>
            <a:r>
              <a:rPr lang="en-US" altLang="zh-CN" sz="1800"/>
              <a:t>IAP</a:t>
            </a:r>
            <a:r>
              <a:rPr lang="zh-CN" altLang="en-US" sz="1800"/>
              <a:t>功能，即可实现连续写入）</a:t>
            </a:r>
          </a:p>
        </p:txBody>
      </p:sp>
    </p:spTree>
    <p:extLst>
      <p:ext uri="{BB962C8B-B14F-4D97-AF65-F5344CB8AC3E}">
        <p14:creationId xmlns:p14="http://schemas.microsoft.com/office/powerpoint/2010/main" val="59584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替换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303B8F"/>
      </a:accent1>
      <a:accent2>
        <a:srgbClr val="FE7F6E"/>
      </a:accent2>
      <a:accent3>
        <a:srgbClr val="CCD1E4"/>
      </a:accent3>
      <a:accent4>
        <a:srgbClr val="FEECE9"/>
      </a:accent4>
      <a:accent5>
        <a:srgbClr val="FFF4EF"/>
      </a:accent5>
      <a:accent6>
        <a:srgbClr val="62A39F"/>
      </a:accent6>
      <a:hlink>
        <a:srgbClr val="6EAC1C"/>
      </a:hlink>
      <a:folHlink>
        <a:srgbClr val="B26B02"/>
      </a:folHlink>
    </a:clrScheme>
    <a:fontScheme name="Ali">
      <a:majorFont>
        <a:latin typeface="优设好身体"/>
        <a:ea typeface="阿里巴巴普惠体 B"/>
        <a:cs typeface=""/>
      </a:majorFont>
      <a:minorFont>
        <a:latin typeface="优设好身体"/>
        <a:ea typeface="阿里巴巴普惠体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第5讲-外部中断实验</Template>
  <TotalTime>7617</TotalTime>
  <Words>2032</Words>
  <Application>Microsoft Office PowerPoint</Application>
  <PresentationFormat>宽屏</PresentationFormat>
  <Paragraphs>288</Paragraphs>
  <Slides>18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阿里巴巴普惠体 B</vt:lpstr>
      <vt:lpstr>阿里巴巴普惠体 R</vt:lpstr>
      <vt:lpstr>等线</vt:lpstr>
      <vt:lpstr>优设好身体</vt:lpstr>
      <vt:lpstr>Arial</vt:lpstr>
      <vt:lpstr>Times New Roman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健辉 李</dc:creator>
  <cp:lastModifiedBy>健辉 李</cp:lastModifiedBy>
  <cp:revision>31</cp:revision>
  <dcterms:created xsi:type="dcterms:W3CDTF">2022-07-22T11:22:29Z</dcterms:created>
  <dcterms:modified xsi:type="dcterms:W3CDTF">2023-04-06T03:13:23Z</dcterms:modified>
</cp:coreProperties>
</file>