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8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1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12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13.xml" ContentType="application/vnd.openxmlformats-officedocument.presentationml.notesSlide+xml"/>
  <Override PartName="/ppt/tags/tag27.xml" ContentType="application/vnd.openxmlformats-officedocument.presentationml.tags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304" r:id="rId3"/>
    <p:sldId id="312" r:id="rId4"/>
    <p:sldId id="305" r:id="rId5"/>
    <p:sldId id="310" r:id="rId6"/>
    <p:sldId id="309" r:id="rId7"/>
    <p:sldId id="303" r:id="rId8"/>
    <p:sldId id="311" r:id="rId9"/>
    <p:sldId id="320" r:id="rId10"/>
    <p:sldId id="321" r:id="rId11"/>
    <p:sldId id="314" r:id="rId12"/>
    <p:sldId id="317" r:id="rId13"/>
    <p:sldId id="315" r:id="rId14"/>
    <p:sldId id="313" r:id="rId15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6" userDrawn="1">
          <p15:clr>
            <a:srgbClr val="A4A3A4"/>
          </p15:clr>
        </p15:guide>
        <p15:guide id="2" pos="3863" userDrawn="1">
          <p15:clr>
            <a:srgbClr val="A4A3A4"/>
          </p15:clr>
        </p15:guide>
        <p15:guide id="3" pos="279" userDrawn="1">
          <p15:clr>
            <a:srgbClr val="A4A3A4"/>
          </p15:clr>
        </p15:guide>
        <p15:guide id="4" pos="7378" userDrawn="1">
          <p15:clr>
            <a:srgbClr val="A4A3A4"/>
          </p15:clr>
        </p15:guide>
        <p15:guide id="5" orient="horz" pos="572" userDrawn="1">
          <p15:clr>
            <a:srgbClr val="A4A3A4"/>
          </p15:clr>
        </p15:guide>
        <p15:guide id="6" orient="horz" pos="618" userDrawn="1">
          <p15:clr>
            <a:srgbClr val="A4A3A4"/>
          </p15:clr>
        </p15:guide>
        <p15:guide id="7" orient="horz" pos="4056" userDrawn="1">
          <p15:clr>
            <a:srgbClr val="A4A3A4"/>
          </p15:clr>
        </p15:guide>
        <p15:guide id="8" orient="horz" pos="3992" userDrawn="1">
          <p15:clr>
            <a:srgbClr val="A4A3A4"/>
          </p15:clr>
        </p15:guide>
        <p15:guide id="9" orient="horz" pos="3339" userDrawn="1">
          <p15:clr>
            <a:srgbClr val="A4A3A4"/>
          </p15:clr>
        </p15:guide>
        <p15:guide id="10" pos="52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CCD1E4"/>
    <a:srgbClr val="FEECE9"/>
    <a:srgbClr val="303B8F"/>
    <a:srgbClr val="FEFCFA"/>
    <a:srgbClr val="FE7F6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247" autoAdjust="0"/>
  </p:normalViewPr>
  <p:slideViewPr>
    <p:cSldViewPr snapToGrid="0" showGuides="1">
      <p:cViewPr varScale="1">
        <p:scale>
          <a:sx n="93" d="100"/>
          <a:sy n="93" d="100"/>
        </p:scale>
        <p:origin x="660" y="78"/>
      </p:cViewPr>
      <p:guideLst>
        <p:guide orient="horz" pos="2296"/>
        <p:guide pos="3863"/>
        <p:guide pos="279"/>
        <p:guide pos="7378"/>
        <p:guide orient="horz" pos="572"/>
        <p:guide orient="horz" pos="618"/>
        <p:guide orient="horz" pos="4056"/>
        <p:guide orient="horz" pos="3992"/>
        <p:guide orient="horz" pos="3339"/>
        <p:guide pos="529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0B6F5A-1C90-49E3-B006-EB0C9DD899DA}" type="datetimeFigureOut">
              <a:rPr lang="zh-CN" altLang="en-US" smtClean="0"/>
              <a:t>2023/4/6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A82636-17AD-46C0-A806-1A7224D9A7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9238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82636-17AD-46C0-A806-1A7224D9A73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45344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82636-17AD-46C0-A806-1A7224D9A73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63925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82636-17AD-46C0-A806-1A7224D9A73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69434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82636-17AD-46C0-A806-1A7224D9A73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87326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82636-17AD-46C0-A806-1A7224D9A73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13599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82636-17AD-46C0-A806-1A7224D9A73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30426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82636-17AD-46C0-A806-1A7224D9A73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23540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82636-17AD-46C0-A806-1A7224D9A73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74042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82636-17AD-46C0-A806-1A7224D9A73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62736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82636-17AD-46C0-A806-1A7224D9A73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21354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82636-17AD-46C0-A806-1A7224D9A73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51063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82636-17AD-46C0-A806-1A7224D9A73A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83886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82636-17AD-46C0-A806-1A7224D9A73A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11845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82636-17AD-46C0-A806-1A7224D9A73A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55230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76963DBC-52F0-4A99-941A-6A1E022B9F21}"/>
              </a:ext>
            </a:extLst>
          </p:cNvPr>
          <p:cNvSpPr/>
          <p:nvPr/>
        </p:nvSpPr>
        <p:spPr>
          <a:xfrm>
            <a:off x="0" y="6337300"/>
            <a:ext cx="12192000" cy="5207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13D5394-5F8D-492B-9810-0078F1946908}"/>
              </a:ext>
            </a:extLst>
          </p:cNvPr>
          <p:cNvSpPr txBox="1"/>
          <p:nvPr userDrawn="1"/>
        </p:nvSpPr>
        <p:spPr>
          <a:xfrm>
            <a:off x="379279" y="6459150"/>
            <a:ext cx="8550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120">
                <a:solidFill>
                  <a:schemeClr val="bg1">
                    <a:alpha val="60000"/>
                  </a:schemeClr>
                </a:solidFill>
                <a:latin typeface="+mn-ea"/>
              </a:rPr>
              <a:t>Leyutek</a:t>
            </a:r>
            <a:endParaRPr lang="zh-CN" altLang="en-US" sz="1200" spc="120">
              <a:solidFill>
                <a:schemeClr val="bg1">
                  <a:alpha val="60000"/>
                </a:schemeClr>
              </a:solidFill>
              <a:latin typeface="+mn-ea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DFFCFC8C-F3FE-49E9-8D4B-6621397DE6E0}"/>
              </a:ext>
            </a:extLst>
          </p:cNvPr>
          <p:cNvGrpSpPr/>
          <p:nvPr/>
        </p:nvGrpSpPr>
        <p:grpSpPr>
          <a:xfrm>
            <a:off x="-1474229" y="-1350932"/>
            <a:ext cx="2502566" cy="2502570"/>
            <a:chOff x="-1251283" y="-1168764"/>
            <a:chExt cx="2502566" cy="2502570"/>
          </a:xfrm>
        </p:grpSpPr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81343C64-1C49-4FA6-A78C-70B60A2A477C}"/>
                </a:ext>
              </a:extLst>
            </p:cNvPr>
            <p:cNvSpPr/>
            <p:nvPr/>
          </p:nvSpPr>
          <p:spPr>
            <a:xfrm>
              <a:off x="-505529" y="-423009"/>
              <a:ext cx="1011060" cy="1011062"/>
            </a:xfrm>
            <a:prstGeom prst="ellipse">
              <a:avLst/>
            </a:prstGeom>
            <a:noFill/>
            <a:ln w="3175" cap="flat" cmpd="sng" algn="ctr">
              <a:solidFill>
                <a:schemeClr val="accent1">
                  <a:alpha val="5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874A0836-E0E7-4463-BA66-9D4360945DA0}"/>
                </a:ext>
              </a:extLst>
            </p:cNvPr>
            <p:cNvSpPr/>
            <p:nvPr/>
          </p:nvSpPr>
          <p:spPr>
            <a:xfrm>
              <a:off x="-691966" y="-609448"/>
              <a:ext cx="1383936" cy="1383939"/>
            </a:xfrm>
            <a:prstGeom prst="ellipse">
              <a:avLst/>
            </a:prstGeom>
            <a:noFill/>
            <a:ln w="3175" cap="flat" cmpd="sng" algn="ctr">
              <a:solidFill>
                <a:schemeClr val="accent1">
                  <a:alpha val="425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>
                    <a:lumMod val="100000"/>
                  </a:schemeClr>
                </a:solidFill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247DAB21-0126-40B2-9AAE-831F71583619}"/>
                </a:ext>
              </a:extLst>
            </p:cNvPr>
            <p:cNvSpPr/>
            <p:nvPr/>
          </p:nvSpPr>
          <p:spPr>
            <a:xfrm>
              <a:off x="-878405" y="-795886"/>
              <a:ext cx="1756814" cy="1756817"/>
            </a:xfrm>
            <a:prstGeom prst="ellipse">
              <a:avLst/>
            </a:prstGeom>
            <a:noFill/>
            <a:ln w="3175" cap="flat" cmpd="sng" algn="ctr">
              <a:solidFill>
                <a:schemeClr val="accent1">
                  <a:alpha val="3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>
                    <a:lumMod val="100000"/>
                  </a:schemeClr>
                </a:solidFill>
              </a:endParaRP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36307FD1-C6B8-4BE2-976A-91863E9EBB71}"/>
                </a:ext>
              </a:extLst>
            </p:cNvPr>
            <p:cNvSpPr/>
            <p:nvPr/>
          </p:nvSpPr>
          <p:spPr>
            <a:xfrm>
              <a:off x="-1064844" y="-982325"/>
              <a:ext cx="2129690" cy="2129693"/>
            </a:xfrm>
            <a:prstGeom prst="ellipse">
              <a:avLst/>
            </a:prstGeom>
            <a:noFill/>
            <a:ln w="3175" cap="flat" cmpd="sng" algn="ctr">
              <a:solidFill>
                <a:schemeClr val="accent1">
                  <a:alpha val="275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>
                    <a:lumMod val="100000"/>
                  </a:schemeClr>
                </a:solidFill>
              </a:endParaRP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12ADF5C0-D11E-48DB-875A-2FCC66DC22AC}"/>
                </a:ext>
              </a:extLst>
            </p:cNvPr>
            <p:cNvSpPr/>
            <p:nvPr/>
          </p:nvSpPr>
          <p:spPr>
            <a:xfrm>
              <a:off x="-1251283" y="-1168764"/>
              <a:ext cx="2502566" cy="2502570"/>
            </a:xfrm>
            <a:prstGeom prst="ellipse">
              <a:avLst/>
            </a:prstGeom>
            <a:noFill/>
            <a:ln w="3175" cap="flat" cmpd="sng" algn="ctr">
              <a:solidFill>
                <a:schemeClr val="accent1">
                  <a:alpha val="2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>
                    <a:lumMod val="100000"/>
                  </a:schemeClr>
                </a:solidFill>
              </a:endParaRPr>
            </a:p>
          </p:txBody>
        </p:sp>
      </p:grpSp>
      <p:sp>
        <p:nvSpPr>
          <p:cNvPr id="29" name="矩形 28">
            <a:extLst>
              <a:ext uri="{FF2B5EF4-FFF2-40B4-BE49-F238E27FC236}">
                <a16:creationId xmlns:a16="http://schemas.microsoft.com/office/drawing/2014/main" id="{0FD2C978-7471-4A72-96E3-685B10FC6250}"/>
              </a:ext>
            </a:extLst>
          </p:cNvPr>
          <p:cNvSpPr/>
          <p:nvPr userDrawn="1"/>
        </p:nvSpPr>
        <p:spPr>
          <a:xfrm>
            <a:off x="0" y="6096000"/>
            <a:ext cx="12192000" cy="241300"/>
          </a:xfrm>
          <a:prstGeom prst="rect">
            <a:avLst/>
          </a:prstGeom>
          <a:solidFill>
            <a:srgbClr val="FAEA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92201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DB8AC99A-568E-45B6-9DB0-75E736C4FD40}"/>
              </a:ext>
            </a:extLst>
          </p:cNvPr>
          <p:cNvSpPr/>
          <p:nvPr userDrawn="1"/>
        </p:nvSpPr>
        <p:spPr>
          <a:xfrm>
            <a:off x="-299280" y="521642"/>
            <a:ext cx="781880" cy="12808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76200" dist="50800" dir="2700000" algn="tl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5A607FCE-E8A1-4B38-A62F-AB994050E9C6}"/>
              </a:ext>
            </a:extLst>
          </p:cNvPr>
          <p:cNvSpPr/>
          <p:nvPr userDrawn="1"/>
        </p:nvSpPr>
        <p:spPr>
          <a:xfrm>
            <a:off x="-594293" y="774700"/>
            <a:ext cx="1076893" cy="3604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76200" dist="50800" dir="2700000" algn="tl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03A1752-8A7B-4110-961C-FF10BC1885B4}"/>
              </a:ext>
            </a:extLst>
          </p:cNvPr>
          <p:cNvSpPr/>
          <p:nvPr userDrawn="1"/>
        </p:nvSpPr>
        <p:spPr>
          <a:xfrm>
            <a:off x="0" y="6337300"/>
            <a:ext cx="12192000" cy="5207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43F4091-0FCB-4F98-A6CD-3498D323DD97}"/>
              </a:ext>
            </a:extLst>
          </p:cNvPr>
          <p:cNvSpPr txBox="1"/>
          <p:nvPr/>
        </p:nvSpPr>
        <p:spPr>
          <a:xfrm>
            <a:off x="379279" y="6459150"/>
            <a:ext cx="8550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120" err="1">
                <a:solidFill>
                  <a:schemeClr val="bg1">
                    <a:alpha val="60000"/>
                  </a:schemeClr>
                </a:solidFill>
                <a:latin typeface="+mn-ea"/>
              </a:rPr>
              <a:t>Leyutek</a:t>
            </a:r>
            <a:endParaRPr lang="zh-CN" altLang="en-US" sz="1200" spc="120">
              <a:solidFill>
                <a:schemeClr val="bg1">
                  <a:alpha val="60000"/>
                </a:schemeClr>
              </a:solidFill>
              <a:latin typeface="+mn-ea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0177331-F4A1-48BE-A9EA-C706B51AB294}"/>
              </a:ext>
            </a:extLst>
          </p:cNvPr>
          <p:cNvSpPr/>
          <p:nvPr userDrawn="1"/>
        </p:nvSpPr>
        <p:spPr>
          <a:xfrm>
            <a:off x="0" y="6096000"/>
            <a:ext cx="12192000" cy="241300"/>
          </a:xfrm>
          <a:prstGeom prst="rect">
            <a:avLst/>
          </a:prstGeom>
          <a:solidFill>
            <a:srgbClr val="FAEA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1041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203A1752-8A7B-4110-961C-FF10BC1885B4}"/>
              </a:ext>
            </a:extLst>
          </p:cNvPr>
          <p:cNvSpPr/>
          <p:nvPr/>
        </p:nvSpPr>
        <p:spPr>
          <a:xfrm>
            <a:off x="0" y="6337300"/>
            <a:ext cx="12192000" cy="5207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43F4091-0FCB-4F98-A6CD-3498D323DD97}"/>
              </a:ext>
            </a:extLst>
          </p:cNvPr>
          <p:cNvSpPr txBox="1"/>
          <p:nvPr/>
        </p:nvSpPr>
        <p:spPr>
          <a:xfrm>
            <a:off x="379279" y="6459150"/>
            <a:ext cx="8550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120" err="1">
                <a:solidFill>
                  <a:schemeClr val="bg1">
                    <a:alpha val="60000"/>
                  </a:schemeClr>
                </a:solidFill>
                <a:latin typeface="+mn-ea"/>
              </a:rPr>
              <a:t>Leyutek</a:t>
            </a:r>
            <a:endParaRPr lang="zh-CN" altLang="en-US" sz="1200" spc="120">
              <a:solidFill>
                <a:schemeClr val="bg1">
                  <a:alpha val="60000"/>
                </a:schemeClr>
              </a:solidFill>
              <a:latin typeface="+mn-ea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65FCE98-8DBD-4232-B02A-36C7E951309B}"/>
              </a:ext>
            </a:extLst>
          </p:cNvPr>
          <p:cNvSpPr/>
          <p:nvPr userDrawn="1"/>
        </p:nvSpPr>
        <p:spPr>
          <a:xfrm>
            <a:off x="0" y="6096000"/>
            <a:ext cx="12192000" cy="241300"/>
          </a:xfrm>
          <a:prstGeom prst="rect">
            <a:avLst/>
          </a:prstGeom>
          <a:solidFill>
            <a:srgbClr val="FAEA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10601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474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8" r:id="rId3"/>
  </p:sldLayoutIdLst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04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04" userDrawn="1">
          <p15:clr>
            <a:srgbClr val="F26B43"/>
          </p15:clr>
        </p15:guide>
        <p15:guide id="4" pos="7368" userDrawn="1">
          <p15:clr>
            <a:srgbClr val="F26B43"/>
          </p15:clr>
        </p15:guide>
        <p15:guide id="5" orient="horz" pos="560" userDrawn="1">
          <p15:clr>
            <a:srgbClr val="F26B43"/>
          </p15:clr>
        </p15:guide>
        <p15:guide id="6" orient="horz" pos="624" userDrawn="1">
          <p15:clr>
            <a:srgbClr val="F26B43"/>
          </p15:clr>
        </p15:guide>
        <p15:guide id="7" orient="horz" pos="4056" userDrawn="1">
          <p15:clr>
            <a:srgbClr val="F26B43"/>
          </p15:clr>
        </p15:guide>
        <p15:guide id="8" orient="horz" pos="399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.bin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7" Type="http://schemas.openxmlformats.org/officeDocument/2006/relationships/notesSlide" Target="../notesSlides/notesSlide8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Layout" Target="../slideLayouts/slideLayout3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14.xml"/><Relationship Id="rId7" Type="http://schemas.openxmlformats.org/officeDocument/2006/relationships/notesSlide" Target="../notesSlides/notesSlide9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Layout" Target="../slideLayouts/slideLayout3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tags" Target="../tags/tag18.xml"/><Relationship Id="rId7" Type="http://schemas.openxmlformats.org/officeDocument/2006/relationships/oleObject" Target="../embeddings/oleObject3.bin"/><Relationship Id="rId2" Type="http://schemas.openxmlformats.org/officeDocument/2006/relationships/tags" Target="../tags/tag17.xml"/><Relationship Id="rId1" Type="http://schemas.openxmlformats.org/officeDocument/2006/relationships/vmlDrawing" Target="../drawings/vmlDrawing3.vml"/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2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tags" Target="../tags/tag25.xml"/><Relationship Id="rId7" Type="http://schemas.openxmlformats.org/officeDocument/2006/relationships/oleObject" Target="../embeddings/oleObject4.bin"/><Relationship Id="rId2" Type="http://schemas.openxmlformats.org/officeDocument/2006/relationships/tags" Target="../tags/tag24.xml"/><Relationship Id="rId1" Type="http://schemas.openxmlformats.org/officeDocument/2006/relationships/vmlDrawing" Target="../drawings/vmlDrawing4.vml"/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文本框 44">
            <a:extLst>
              <a:ext uri="{FF2B5EF4-FFF2-40B4-BE49-F238E27FC236}">
                <a16:creationId xmlns:a16="http://schemas.microsoft.com/office/drawing/2014/main" id="{D596D725-AB69-42C2-8189-3831F5FC6D28}"/>
              </a:ext>
            </a:extLst>
          </p:cNvPr>
          <p:cNvSpPr txBox="1"/>
          <p:nvPr/>
        </p:nvSpPr>
        <p:spPr>
          <a:xfrm>
            <a:off x="636763" y="3323572"/>
            <a:ext cx="38202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>
                <a:solidFill>
                  <a:srgbClr val="303B8F"/>
                </a:solidFill>
                <a:latin typeface="+mn-ea"/>
              </a:rPr>
              <a:t>快速入门教程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50111094-87C7-49F9-8902-F79DCBDC0661}"/>
              </a:ext>
            </a:extLst>
          </p:cNvPr>
          <p:cNvSpPr txBox="1"/>
          <p:nvPr/>
        </p:nvSpPr>
        <p:spPr>
          <a:xfrm>
            <a:off x="611878" y="2228671"/>
            <a:ext cx="5819222" cy="1200329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sz="7200">
                <a:solidFill>
                  <a:srgbClr val="FFC000"/>
                </a:solidFill>
                <a:latin typeface="+mj-ea"/>
                <a:ea typeface="+mj-ea"/>
              </a:rPr>
              <a:t>51</a:t>
            </a:r>
            <a:r>
              <a:rPr lang="zh-CN" altLang="en-US" sz="7200">
                <a:solidFill>
                  <a:srgbClr val="FFC000"/>
                </a:solidFill>
                <a:latin typeface="+mj-ea"/>
                <a:ea typeface="+mj-ea"/>
              </a:rPr>
              <a:t>单片机开发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4D57C032-3659-4D5C-8BF2-176481FB0039}"/>
              </a:ext>
            </a:extLst>
          </p:cNvPr>
          <p:cNvSpPr txBox="1"/>
          <p:nvPr/>
        </p:nvSpPr>
        <p:spPr>
          <a:xfrm>
            <a:off x="636763" y="1888008"/>
            <a:ext cx="42795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solidFill>
                  <a:schemeClr val="accent1">
                    <a:lumMod val="75000"/>
                  </a:schemeClr>
                </a:solidFill>
                <a:latin typeface="+mn-ea"/>
              </a:rPr>
              <a:t>51 Microcontroller Development</a:t>
            </a:r>
            <a:endParaRPr lang="zh-CN" altLang="en-US" sz="200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9E2180FE-7DFA-4CD4-8111-B52D2276A1E0}"/>
              </a:ext>
            </a:extLst>
          </p:cNvPr>
          <p:cNvSpPr txBox="1"/>
          <p:nvPr/>
        </p:nvSpPr>
        <p:spPr>
          <a:xfrm>
            <a:off x="4457040" y="3462751"/>
            <a:ext cx="16564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solidFill>
                  <a:schemeClr val="accent1">
                    <a:lumMod val="75000"/>
                  </a:schemeClr>
                </a:solidFill>
                <a:latin typeface="+mn-ea"/>
              </a:rPr>
              <a:t>Quick Start</a:t>
            </a:r>
          </a:p>
          <a:p>
            <a:r>
              <a:rPr lang="en-US" altLang="zh-CN" sz="1400">
                <a:solidFill>
                  <a:schemeClr val="accent1">
                    <a:lumMod val="75000"/>
                  </a:schemeClr>
                </a:solidFill>
                <a:latin typeface="+mn-ea"/>
              </a:rPr>
              <a:t>Tutorial</a:t>
            </a:r>
            <a:endParaRPr lang="zh-CN" altLang="en-US" sz="140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61B43FB6-E68B-4CE2-8232-8B98B533EBBB}"/>
              </a:ext>
            </a:extLst>
          </p:cNvPr>
          <p:cNvSpPr txBox="1"/>
          <p:nvPr/>
        </p:nvSpPr>
        <p:spPr>
          <a:xfrm>
            <a:off x="1081729" y="4286060"/>
            <a:ext cx="3910593" cy="53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spc="120"/>
              <a:t>第</a:t>
            </a:r>
            <a:r>
              <a:rPr lang="en-US" altLang="zh-CN" sz="2400" spc="120"/>
              <a:t>3</a:t>
            </a:r>
            <a:r>
              <a:rPr lang="zh-CN" altLang="en-US" sz="2400" spc="120"/>
              <a:t>章 </a:t>
            </a:r>
            <a:r>
              <a:rPr lang="en-US" altLang="zh-CN" sz="2400" spc="120"/>
              <a:t>LED</a:t>
            </a:r>
            <a:r>
              <a:rPr lang="zh-CN" altLang="en-US" sz="2400" spc="120"/>
              <a:t>流水灯</a:t>
            </a: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E18F9E34-75A3-434E-94DC-4D4B7092AEA6}"/>
              </a:ext>
            </a:extLst>
          </p:cNvPr>
          <p:cNvCxnSpPr/>
          <p:nvPr/>
        </p:nvCxnSpPr>
        <p:spPr>
          <a:xfrm>
            <a:off x="754383" y="4312966"/>
            <a:ext cx="0" cy="540084"/>
          </a:xfrm>
          <a:prstGeom prst="line">
            <a:avLst/>
          </a:prstGeom>
          <a:ln w="3810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>
            <a:extLst>
              <a:ext uri="{FF2B5EF4-FFF2-40B4-BE49-F238E27FC236}">
                <a16:creationId xmlns:a16="http://schemas.microsoft.com/office/drawing/2014/main" id="{A411BE95-8B2B-4FDC-A0B5-5D49431805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4137" y="1037273"/>
            <a:ext cx="3336566" cy="4202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8025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8825557E-601A-41F5-BDB7-613F85FA87E2}"/>
              </a:ext>
            </a:extLst>
          </p:cNvPr>
          <p:cNvGrpSpPr/>
          <p:nvPr/>
        </p:nvGrpSpPr>
        <p:grpSpPr>
          <a:xfrm>
            <a:off x="482600" y="1543767"/>
            <a:ext cx="11226800" cy="3770466"/>
            <a:chOff x="482600" y="981075"/>
            <a:chExt cx="11226800" cy="3770466"/>
          </a:xfrm>
        </p:grpSpPr>
        <p:sp>
          <p:nvSpPr>
            <p:cNvPr id="2" name="矩形: 对角圆角 1">
              <a:extLst>
                <a:ext uri="{FF2B5EF4-FFF2-40B4-BE49-F238E27FC236}">
                  <a16:creationId xmlns:a16="http://schemas.microsoft.com/office/drawing/2014/main" id="{10B588B5-A5A0-428D-9822-DA726FB33C99}"/>
                </a:ext>
              </a:extLst>
            </p:cNvPr>
            <p:cNvSpPr/>
            <p:nvPr/>
          </p:nvSpPr>
          <p:spPr>
            <a:xfrm>
              <a:off x="482600" y="981075"/>
              <a:ext cx="11226800" cy="3691072"/>
            </a:xfrm>
            <a:prstGeom prst="round2DiagRect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  <a:effectLst>
              <a:outerShdw blurRad="127000" dist="63500" dir="2700000" algn="tl" rotWithShape="0">
                <a:schemeClr val="accent2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0DD4C794-7A83-4673-A011-F182F8491995}"/>
                </a:ext>
              </a:extLst>
            </p:cNvPr>
            <p:cNvGrpSpPr/>
            <p:nvPr/>
          </p:nvGrpSpPr>
          <p:grpSpPr>
            <a:xfrm>
              <a:off x="507793" y="1280160"/>
              <a:ext cx="10860738" cy="3471381"/>
              <a:chOff x="443388" y="1280160"/>
              <a:chExt cx="10860738" cy="3471381"/>
            </a:xfrm>
          </p:grpSpPr>
          <p:grpSp>
            <p:nvGrpSpPr>
              <p:cNvPr id="24" name="组合 23">
                <a:extLst>
                  <a:ext uri="{FF2B5EF4-FFF2-40B4-BE49-F238E27FC236}">
                    <a16:creationId xmlns:a16="http://schemas.microsoft.com/office/drawing/2014/main" id="{F7861F16-9885-4D93-8329-EF04DC49B9D7}"/>
                  </a:ext>
                </a:extLst>
              </p:cNvPr>
              <p:cNvGrpSpPr/>
              <p:nvPr/>
            </p:nvGrpSpPr>
            <p:grpSpPr>
              <a:xfrm>
                <a:off x="443388" y="1370293"/>
                <a:ext cx="5838908" cy="1739256"/>
                <a:chOff x="-15896" y="866380"/>
                <a:chExt cx="5838908" cy="1739256"/>
              </a:xfrm>
            </p:grpSpPr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11A3B8B6-46FC-4E85-9FBF-535782AF2AE4}"/>
                    </a:ext>
                  </a:extLst>
                </p:cNvPr>
                <p:cNvSpPr txBox="1"/>
                <p:nvPr/>
              </p:nvSpPr>
              <p:spPr>
                <a:xfrm>
                  <a:off x="337215" y="1405307"/>
                  <a:ext cx="5485797" cy="12003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7200">
                      <a:solidFill>
                        <a:schemeClr val="accent1"/>
                      </a:solidFill>
                      <a:latin typeface="+mj-ea"/>
                      <a:ea typeface="+mj-ea"/>
                    </a:rPr>
                    <a:t>LED</a:t>
                  </a:r>
                  <a:r>
                    <a:rPr lang="zh-CN" altLang="en-US" sz="7200">
                      <a:solidFill>
                        <a:schemeClr val="accent1"/>
                      </a:solidFill>
                      <a:latin typeface="+mj-ea"/>
                      <a:ea typeface="+mj-ea"/>
                    </a:rPr>
                    <a:t>工作原理</a:t>
                  </a:r>
                </a:p>
              </p:txBody>
            </p:sp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B10E2737-D3EA-4121-98D2-DDEDE22C7214}"/>
                    </a:ext>
                  </a:extLst>
                </p:cNvPr>
                <p:cNvSpPr txBox="1"/>
                <p:nvPr/>
              </p:nvSpPr>
              <p:spPr>
                <a:xfrm>
                  <a:off x="-15896" y="866380"/>
                  <a:ext cx="1093569" cy="12003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7200">
                      <a:ln>
                        <a:solidFill>
                          <a:schemeClr val="accent1"/>
                        </a:solidFill>
                      </a:ln>
                      <a:noFill/>
                      <a:latin typeface="+mj-ea"/>
                      <a:ea typeface="+mj-ea"/>
                    </a:rPr>
                    <a:t>“</a:t>
                  </a:r>
                </a:p>
              </p:txBody>
            </p:sp>
          </p:grp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9A342D13-453A-4B14-BAAD-97B4A2AA40D0}"/>
                  </a:ext>
                </a:extLst>
              </p:cNvPr>
              <p:cNvSpPr txBox="1"/>
              <p:nvPr/>
            </p:nvSpPr>
            <p:spPr>
              <a:xfrm>
                <a:off x="719441" y="3551212"/>
                <a:ext cx="1579278" cy="12003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200">
                    <a:ln w="3175">
                      <a:solidFill>
                        <a:schemeClr val="accent1"/>
                      </a:solidFill>
                    </a:ln>
                    <a:blipFill>
                      <a:blip r:embed="rId3"/>
                      <a:stretch>
                        <a:fillRect/>
                      </a:stretch>
                    </a:blipFill>
                    <a:latin typeface="+mj-ea"/>
                    <a:ea typeface="+mj-ea"/>
                  </a:rPr>
                  <a:t>3.1</a:t>
                </a:r>
                <a:endParaRPr lang="zh-CN" altLang="en-US" sz="7200">
                  <a:ln w="3175">
                    <a:solidFill>
                      <a:schemeClr val="accent1"/>
                    </a:solidFill>
                  </a:ln>
                  <a:blipFill>
                    <a:blip r:embed="rId3"/>
                    <a:stretch>
                      <a:fillRect/>
                    </a:stretch>
                  </a:blipFill>
                  <a:latin typeface="+mj-ea"/>
                  <a:ea typeface="+mj-ea"/>
                </a:endParaRPr>
              </a:p>
            </p:txBody>
          </p: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79BCB92C-26C8-47AE-83C4-E0E6001359C6}"/>
                  </a:ext>
                </a:extLst>
              </p:cNvPr>
              <p:cNvCxnSpPr>
                <a:cxnSpLocks/>
                <a:endCxn id="35" idx="1"/>
              </p:cNvCxnSpPr>
              <p:nvPr/>
            </p:nvCxnSpPr>
            <p:spPr>
              <a:xfrm flipV="1">
                <a:off x="2863479" y="4429529"/>
                <a:ext cx="6652087" cy="7777"/>
              </a:xfrm>
              <a:prstGeom prst="line">
                <a:avLst/>
              </a:prstGeom>
              <a:ln w="6350" cap="rnd">
                <a:solidFill>
                  <a:schemeClr val="accent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" name="组合 26">
                <a:extLst>
                  <a:ext uri="{FF2B5EF4-FFF2-40B4-BE49-F238E27FC236}">
                    <a16:creationId xmlns:a16="http://schemas.microsoft.com/office/drawing/2014/main" id="{F3BDCD70-4ED7-4B58-B4EA-97B5766A2ED8}"/>
                  </a:ext>
                </a:extLst>
              </p:cNvPr>
              <p:cNvGrpSpPr/>
              <p:nvPr/>
            </p:nvGrpSpPr>
            <p:grpSpPr>
              <a:xfrm>
                <a:off x="2863479" y="4125108"/>
                <a:ext cx="1685737" cy="192317"/>
                <a:chOff x="2205551" y="1812089"/>
                <a:chExt cx="952517" cy="108668"/>
              </a:xfrm>
            </p:grpSpPr>
            <p:sp>
              <p:nvSpPr>
                <p:cNvPr id="28" name="等腰三角形 27">
                  <a:extLst>
                    <a:ext uri="{FF2B5EF4-FFF2-40B4-BE49-F238E27FC236}">
                      <a16:creationId xmlns:a16="http://schemas.microsoft.com/office/drawing/2014/main" id="{1716C571-C917-4278-9C5E-B42CBAA662AC}"/>
                    </a:ext>
                  </a:extLst>
                </p:cNvPr>
                <p:cNvSpPr/>
                <p:nvPr/>
              </p:nvSpPr>
              <p:spPr>
                <a:xfrm rot="5400000" flipH="1">
                  <a:off x="2198057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等腰三角形 28">
                  <a:extLst>
                    <a:ext uri="{FF2B5EF4-FFF2-40B4-BE49-F238E27FC236}">
                      <a16:creationId xmlns:a16="http://schemas.microsoft.com/office/drawing/2014/main" id="{84945E56-71FD-4574-B8AF-0AB9430B87F1}"/>
                    </a:ext>
                  </a:extLst>
                </p:cNvPr>
                <p:cNvSpPr/>
                <p:nvPr/>
              </p:nvSpPr>
              <p:spPr>
                <a:xfrm rot="5400000" flipH="1">
                  <a:off x="2369825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等腰三角形 29">
                  <a:extLst>
                    <a:ext uri="{FF2B5EF4-FFF2-40B4-BE49-F238E27FC236}">
                      <a16:creationId xmlns:a16="http://schemas.microsoft.com/office/drawing/2014/main" id="{DB47E230-B6F4-445D-83D6-319866970D69}"/>
                    </a:ext>
                  </a:extLst>
                </p:cNvPr>
                <p:cNvSpPr/>
                <p:nvPr/>
              </p:nvSpPr>
              <p:spPr>
                <a:xfrm rot="5400000" flipH="1">
                  <a:off x="2541593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等腰三角形 30">
                  <a:extLst>
                    <a:ext uri="{FF2B5EF4-FFF2-40B4-BE49-F238E27FC236}">
                      <a16:creationId xmlns:a16="http://schemas.microsoft.com/office/drawing/2014/main" id="{0AE4CDED-8F3C-41C3-A316-F899AB2117F2}"/>
                    </a:ext>
                  </a:extLst>
                </p:cNvPr>
                <p:cNvSpPr/>
                <p:nvPr/>
              </p:nvSpPr>
              <p:spPr>
                <a:xfrm rot="5400000" flipH="1">
                  <a:off x="2713361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等腰三角形 31">
                  <a:extLst>
                    <a:ext uri="{FF2B5EF4-FFF2-40B4-BE49-F238E27FC236}">
                      <a16:creationId xmlns:a16="http://schemas.microsoft.com/office/drawing/2014/main" id="{9379EE45-C7FC-47D7-A570-2F20CBDCD51F}"/>
                    </a:ext>
                  </a:extLst>
                </p:cNvPr>
                <p:cNvSpPr/>
                <p:nvPr/>
              </p:nvSpPr>
              <p:spPr>
                <a:xfrm rot="5400000" flipH="1">
                  <a:off x="2885129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等腰三角形 32">
                  <a:extLst>
                    <a:ext uri="{FF2B5EF4-FFF2-40B4-BE49-F238E27FC236}">
                      <a16:creationId xmlns:a16="http://schemas.microsoft.com/office/drawing/2014/main" id="{8B93F476-0A58-4409-BDB9-B42AC0947C35}"/>
                    </a:ext>
                  </a:extLst>
                </p:cNvPr>
                <p:cNvSpPr/>
                <p:nvPr/>
              </p:nvSpPr>
              <p:spPr>
                <a:xfrm rot="5400000" flipH="1">
                  <a:off x="3056895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53D456A9-D5DA-4A6D-A38F-2A29E2192823}"/>
                  </a:ext>
                </a:extLst>
              </p:cNvPr>
              <p:cNvSpPr txBox="1"/>
              <p:nvPr/>
            </p:nvSpPr>
            <p:spPr>
              <a:xfrm>
                <a:off x="9515566" y="4275640"/>
                <a:ext cx="178856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1400">
                    <a:solidFill>
                      <a:schemeClr val="accent1">
                        <a:lumMod val="75000"/>
                      </a:schemeClr>
                    </a:solidFill>
                    <a:latin typeface="+mn-ea"/>
                  </a:rPr>
                  <a:t> </a:t>
                </a:r>
                <a:endParaRPr lang="zh-CN" altLang="en-US" sz="1400">
                  <a:solidFill>
                    <a:schemeClr val="accent1">
                      <a:lumMod val="75000"/>
                    </a:schemeClr>
                  </a:solidFill>
                  <a:latin typeface="+mn-ea"/>
                </a:endParaRPr>
              </a:p>
            </p:txBody>
          </p: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CA1FE248-5B87-4FEC-A06B-8EC2FA06E2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99027" y="1280160"/>
                <a:ext cx="0" cy="2961161"/>
              </a:xfrm>
              <a:prstGeom prst="line">
                <a:avLst/>
              </a:prstGeom>
              <a:ln w="9525" cap="rnd">
                <a:solidFill>
                  <a:schemeClr val="accent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6760060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>
            <a:extLst>
              <a:ext uri="{FF2B5EF4-FFF2-40B4-BE49-F238E27FC236}">
                <a16:creationId xmlns:a16="http://schemas.microsoft.com/office/drawing/2014/main" id="{23BA3E4E-B592-4B97-8F25-7ADD4FFE5B6A}"/>
              </a:ext>
            </a:extLst>
          </p:cNvPr>
          <p:cNvGrpSpPr/>
          <p:nvPr/>
        </p:nvGrpSpPr>
        <p:grpSpPr>
          <a:xfrm>
            <a:off x="665428" y="363020"/>
            <a:ext cx="2305439" cy="904715"/>
            <a:chOff x="482600" y="439828"/>
            <a:chExt cx="2305439" cy="904715"/>
          </a:xfrm>
        </p:grpSpPr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F6D9BBA3-FCBC-4921-ADFF-069FECDB78C8}"/>
                </a:ext>
              </a:extLst>
            </p:cNvPr>
            <p:cNvSpPr txBox="1"/>
            <p:nvPr/>
          </p:nvSpPr>
          <p:spPr>
            <a:xfrm>
              <a:off x="482600" y="636657"/>
              <a:ext cx="230543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000" dirty="0">
                  <a:solidFill>
                    <a:schemeClr val="accent1"/>
                  </a:solidFill>
                  <a:latin typeface="+mj-ea"/>
                  <a:ea typeface="+mj-ea"/>
                </a:rPr>
                <a:t>51</a:t>
              </a:r>
              <a:r>
                <a:rPr lang="zh-CN" altLang="en-US" sz="4000" dirty="0">
                  <a:solidFill>
                    <a:schemeClr val="accent1"/>
                  </a:solidFill>
                  <a:latin typeface="+mj-ea"/>
                  <a:ea typeface="+mj-ea"/>
                </a:rPr>
                <a:t>核心板</a:t>
              </a: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B2110A2B-8054-45C2-930F-E8F216E34C22}"/>
                </a:ext>
              </a:extLst>
            </p:cNvPr>
            <p:cNvSpPr txBox="1"/>
            <p:nvPr/>
          </p:nvSpPr>
          <p:spPr>
            <a:xfrm>
              <a:off x="482600" y="439828"/>
              <a:ext cx="13420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51 Coreboard</a:t>
              </a:r>
              <a:endParaRPr lang="zh-CN" altLang="en-US" sz="1400" dirty="0">
                <a:solidFill>
                  <a:schemeClr val="accent1">
                    <a:lumMod val="75000"/>
                  </a:schemeClr>
                </a:solidFill>
                <a:latin typeface="+mn-ea"/>
              </a:endParaRPr>
            </a:p>
          </p:txBody>
        </p:sp>
      </p:grp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1C6151D2-CC22-468F-AC89-871CE039E4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4999" y="1464564"/>
          <a:ext cx="8143875" cy="41571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1" name="Visio" r:id="rId4" imgW="3844644" imgH="1967041" progId="Visio.Drawing.11">
                  <p:embed/>
                </p:oleObj>
              </mc:Choice>
              <mc:Fallback>
                <p:oleObj name="Visio" r:id="rId4" imgW="3844644" imgH="1967041" progId="Visio.Drawing.11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1C6151D2-CC22-468F-AC89-871CE039E4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4999" y="1464564"/>
                        <a:ext cx="8143875" cy="415712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13774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BAC8C24B-971B-46A9-BB3A-8E03D9749CB2}"/>
              </a:ext>
            </a:extLst>
          </p:cNvPr>
          <p:cNvGrpSpPr/>
          <p:nvPr/>
        </p:nvGrpSpPr>
        <p:grpSpPr>
          <a:xfrm>
            <a:off x="482600" y="439828"/>
            <a:ext cx="3129383" cy="904715"/>
            <a:chOff x="482600" y="439828"/>
            <a:chExt cx="3129383" cy="904715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D3345156-5EBA-4102-AE2A-79169B096F14}"/>
                </a:ext>
              </a:extLst>
            </p:cNvPr>
            <p:cNvSpPr txBox="1"/>
            <p:nvPr/>
          </p:nvSpPr>
          <p:spPr>
            <a:xfrm>
              <a:off x="482600" y="636657"/>
              <a:ext cx="312938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000">
                  <a:solidFill>
                    <a:schemeClr val="accent1"/>
                  </a:solidFill>
                  <a:latin typeface="+mj-ea"/>
                  <a:ea typeface="+mj-ea"/>
                </a:rPr>
                <a:t>LED</a:t>
              </a:r>
              <a:r>
                <a:rPr lang="zh-CN" altLang="en-US" sz="4000">
                  <a:solidFill>
                    <a:schemeClr val="accent1"/>
                  </a:solidFill>
                  <a:latin typeface="+mj-ea"/>
                  <a:ea typeface="+mj-ea"/>
                </a:rPr>
                <a:t>工作原理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3FD2742-9550-4D58-9FBF-434D1920F8B9}"/>
                </a:ext>
              </a:extLst>
            </p:cNvPr>
            <p:cNvSpPr txBox="1"/>
            <p:nvPr/>
          </p:nvSpPr>
          <p:spPr>
            <a:xfrm>
              <a:off x="482600" y="439828"/>
              <a:ext cx="148630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How LEDs work</a:t>
              </a:r>
              <a:endParaRPr lang="zh-CN" altLang="en-US" sz="1400">
                <a:solidFill>
                  <a:schemeClr val="accent1">
                    <a:lumMod val="75000"/>
                  </a:schemeClr>
                </a:solidFill>
                <a:latin typeface="+mn-ea"/>
              </a:endParaRPr>
            </a:p>
          </p:txBody>
        </p:sp>
      </p:grp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A5035F99-7DEB-40B7-B0C2-538C1E4E52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8556287"/>
              </p:ext>
            </p:extLst>
          </p:nvPr>
        </p:nvGraphicFramePr>
        <p:xfrm>
          <a:off x="395321" y="1804881"/>
          <a:ext cx="4763342" cy="31144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Visio" r:id="rId5" imgW="1003713" imgH="658368" progId="Visio.Drawing.11">
                  <p:embed/>
                </p:oleObj>
              </mc:Choice>
              <mc:Fallback>
                <p:oleObj name="Visio" r:id="rId5" imgW="1003713" imgH="658368" progId="Visio.Drawing.11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8E1FA9A3-CD37-4C94-AC83-6B9754957C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321" y="1804881"/>
                        <a:ext cx="4763342" cy="311449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PA-文本框 5">
            <a:extLst>
              <a:ext uri="{FF2B5EF4-FFF2-40B4-BE49-F238E27FC236}">
                <a16:creationId xmlns:a16="http://schemas.microsoft.com/office/drawing/2014/main" id="{E60209C7-F0CF-452E-9A6B-1250BB58853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642042" y="2434112"/>
            <a:ext cx="6284069" cy="1989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 spc="120"/>
            </a:lvl1pPr>
          </a:lstStyle>
          <a:p>
            <a:r>
              <a:rPr lang="en-US" altLang="zh-CN" sz="1600"/>
              <a:t>LED</a:t>
            </a:r>
            <a:r>
              <a:rPr lang="zh-CN" altLang="en-US" sz="1600"/>
              <a:t>灯左侧接入电源</a:t>
            </a:r>
            <a:r>
              <a:rPr lang="en-US" altLang="zh-CN" sz="1600" err="1"/>
              <a:t>Vcc</a:t>
            </a:r>
            <a:r>
              <a:rPr lang="zh-CN" altLang="en-US" sz="1600"/>
              <a:t>，通过限流电阻后分别连接至</a:t>
            </a:r>
            <a:r>
              <a:rPr lang="en-US" altLang="zh-CN" sz="1600"/>
              <a:t>STC89C52RC</a:t>
            </a:r>
            <a:r>
              <a:rPr lang="zh-CN" altLang="en-US" sz="1600"/>
              <a:t>芯片的</a:t>
            </a:r>
            <a:r>
              <a:rPr lang="en-US" altLang="zh-CN" sz="1600"/>
              <a:t>P2.4~P2.7</a:t>
            </a:r>
            <a:r>
              <a:rPr lang="zh-CN" altLang="en-US" sz="1600"/>
              <a:t>引脚。</a:t>
            </a:r>
            <a:endParaRPr lang="en-US" altLang="zh-CN" sz="1600"/>
          </a:p>
          <a:p>
            <a:r>
              <a:rPr lang="en-US" altLang="zh-CN" sz="1600"/>
              <a:t>R1~R4</a:t>
            </a:r>
            <a:r>
              <a:rPr lang="zh-CN" altLang="en-US" sz="1600"/>
              <a:t>为限流电阻，避免</a:t>
            </a:r>
            <a:r>
              <a:rPr lang="en-US" altLang="zh-CN" sz="1600"/>
              <a:t>LED</a:t>
            </a:r>
            <a:r>
              <a:rPr lang="zh-CN" altLang="en-US" sz="1600"/>
              <a:t>因电流过大而损坏。</a:t>
            </a:r>
            <a:endParaRPr lang="en-US" altLang="zh-CN" sz="1600"/>
          </a:p>
          <a:p>
            <a:endParaRPr lang="en-US" altLang="zh-CN" sz="1600"/>
          </a:p>
          <a:p>
            <a:r>
              <a:rPr lang="zh-CN" altLang="en-US" sz="1600"/>
              <a:t>以</a:t>
            </a:r>
            <a:r>
              <a:rPr lang="en-US" altLang="zh-CN" sz="1600"/>
              <a:t>LED1</a:t>
            </a:r>
            <a:r>
              <a:rPr lang="zh-CN" altLang="en-US" sz="1600"/>
              <a:t>为例，当</a:t>
            </a:r>
            <a:r>
              <a:rPr lang="en-US" altLang="zh-CN" sz="1600"/>
              <a:t>P2.4</a:t>
            </a:r>
            <a:r>
              <a:rPr lang="zh-CN" altLang="en-US" sz="1600"/>
              <a:t>引脚为低电平时，</a:t>
            </a:r>
            <a:r>
              <a:rPr lang="en-US" altLang="zh-CN" sz="1600"/>
              <a:t>LED</a:t>
            </a:r>
            <a:r>
              <a:rPr lang="zh-CN" altLang="en-US" sz="1600"/>
              <a:t>两侧产生电压差，</a:t>
            </a:r>
            <a:r>
              <a:rPr lang="en-US" altLang="zh-CN" sz="1600"/>
              <a:t>LED1</a:t>
            </a:r>
            <a:r>
              <a:rPr lang="zh-CN" altLang="en-US" sz="1600"/>
              <a:t>点亮。反之，当</a:t>
            </a:r>
            <a:r>
              <a:rPr lang="en-US" altLang="zh-CN" sz="1600"/>
              <a:t>P2.4</a:t>
            </a:r>
            <a:r>
              <a:rPr lang="zh-CN" altLang="en-US" sz="1600"/>
              <a:t>引脚为高电平时，</a:t>
            </a:r>
            <a:r>
              <a:rPr lang="en-US" altLang="zh-CN" sz="1600"/>
              <a:t>LED1</a:t>
            </a:r>
            <a:r>
              <a:rPr lang="zh-CN" altLang="en-US" sz="1600"/>
              <a:t>熄灭。</a:t>
            </a:r>
            <a:endParaRPr lang="en-US" altLang="zh-CN" sz="1600"/>
          </a:p>
        </p:txBody>
      </p:sp>
    </p:spTree>
    <p:extLst>
      <p:ext uri="{BB962C8B-B14F-4D97-AF65-F5344CB8AC3E}">
        <p14:creationId xmlns:p14="http://schemas.microsoft.com/office/powerpoint/2010/main" val="15663962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8825557E-601A-41F5-BDB7-613F85FA87E2}"/>
              </a:ext>
            </a:extLst>
          </p:cNvPr>
          <p:cNvGrpSpPr/>
          <p:nvPr/>
        </p:nvGrpSpPr>
        <p:grpSpPr>
          <a:xfrm>
            <a:off x="482600" y="1543767"/>
            <a:ext cx="11226800" cy="3770466"/>
            <a:chOff x="482600" y="981075"/>
            <a:chExt cx="11226800" cy="3770466"/>
          </a:xfrm>
        </p:grpSpPr>
        <p:sp>
          <p:nvSpPr>
            <p:cNvPr id="2" name="矩形: 对角圆角 1">
              <a:extLst>
                <a:ext uri="{FF2B5EF4-FFF2-40B4-BE49-F238E27FC236}">
                  <a16:creationId xmlns:a16="http://schemas.microsoft.com/office/drawing/2014/main" id="{10B588B5-A5A0-428D-9822-DA726FB33C99}"/>
                </a:ext>
              </a:extLst>
            </p:cNvPr>
            <p:cNvSpPr/>
            <p:nvPr/>
          </p:nvSpPr>
          <p:spPr>
            <a:xfrm>
              <a:off x="482600" y="981075"/>
              <a:ext cx="11226800" cy="3691072"/>
            </a:xfrm>
            <a:prstGeom prst="round2DiagRect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  <a:effectLst>
              <a:outerShdw blurRad="127000" dist="63500" dir="2700000" algn="tl" rotWithShape="0">
                <a:schemeClr val="accent2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0DD4C794-7A83-4673-A011-F182F8491995}"/>
                </a:ext>
              </a:extLst>
            </p:cNvPr>
            <p:cNvGrpSpPr/>
            <p:nvPr/>
          </p:nvGrpSpPr>
          <p:grpSpPr>
            <a:xfrm>
              <a:off x="507793" y="1280160"/>
              <a:ext cx="10860738" cy="3471381"/>
              <a:chOff x="443388" y="1280160"/>
              <a:chExt cx="10860738" cy="3471381"/>
            </a:xfrm>
          </p:grpSpPr>
          <p:grpSp>
            <p:nvGrpSpPr>
              <p:cNvPr id="24" name="组合 23">
                <a:extLst>
                  <a:ext uri="{FF2B5EF4-FFF2-40B4-BE49-F238E27FC236}">
                    <a16:creationId xmlns:a16="http://schemas.microsoft.com/office/drawing/2014/main" id="{F7861F16-9885-4D93-8329-EF04DC49B9D7}"/>
                  </a:ext>
                </a:extLst>
              </p:cNvPr>
              <p:cNvGrpSpPr/>
              <p:nvPr/>
            </p:nvGrpSpPr>
            <p:grpSpPr>
              <a:xfrm>
                <a:off x="443388" y="1370293"/>
                <a:ext cx="7425881" cy="2069332"/>
                <a:chOff x="-15896" y="866380"/>
                <a:chExt cx="7425881" cy="2069332"/>
              </a:xfrm>
            </p:grpSpPr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11A3B8B6-46FC-4E85-9FBF-535782AF2AE4}"/>
                    </a:ext>
                  </a:extLst>
                </p:cNvPr>
                <p:cNvSpPr txBox="1"/>
                <p:nvPr/>
              </p:nvSpPr>
              <p:spPr>
                <a:xfrm>
                  <a:off x="337215" y="1405307"/>
                  <a:ext cx="7072770" cy="12003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7200">
                      <a:solidFill>
                        <a:schemeClr val="accent1"/>
                      </a:solidFill>
                      <a:latin typeface="+mj-ea"/>
                      <a:ea typeface="+mj-ea"/>
                    </a:rPr>
                    <a:t>I/O</a:t>
                  </a:r>
                  <a:r>
                    <a:rPr lang="zh-CN" altLang="en-US" sz="7200">
                      <a:solidFill>
                        <a:schemeClr val="accent1"/>
                      </a:solidFill>
                      <a:latin typeface="+mj-ea"/>
                      <a:ea typeface="+mj-ea"/>
                    </a:rPr>
                    <a:t>引脚控制方法</a:t>
                  </a:r>
                </a:p>
              </p:txBody>
            </p:sp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2F4AC91A-C73F-4F48-88B5-22067FBB2E81}"/>
                    </a:ext>
                  </a:extLst>
                </p:cNvPr>
                <p:cNvSpPr txBox="1"/>
                <p:nvPr/>
              </p:nvSpPr>
              <p:spPr>
                <a:xfrm>
                  <a:off x="379279" y="2474047"/>
                  <a:ext cx="4046301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it-IT" altLang="zh-CN" sz="2400">
                      <a:solidFill>
                        <a:schemeClr val="accent1">
                          <a:lumMod val="75000"/>
                        </a:schemeClr>
                      </a:solidFill>
                      <a:latin typeface="+mn-ea"/>
                    </a:rPr>
                    <a:t>I/O pin control method</a:t>
                  </a:r>
                  <a:endParaRPr lang="en-US" altLang="zh-CN" sz="2400">
                    <a:solidFill>
                      <a:schemeClr val="accent1">
                        <a:lumMod val="75000"/>
                      </a:schemeClr>
                    </a:solidFill>
                    <a:latin typeface="+mn-ea"/>
                  </a:endParaRPr>
                </a:p>
              </p:txBody>
            </p:sp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B10E2737-D3EA-4121-98D2-DDEDE22C7214}"/>
                    </a:ext>
                  </a:extLst>
                </p:cNvPr>
                <p:cNvSpPr txBox="1"/>
                <p:nvPr/>
              </p:nvSpPr>
              <p:spPr>
                <a:xfrm>
                  <a:off x="-15896" y="866380"/>
                  <a:ext cx="1093569" cy="12003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7200">
                      <a:ln>
                        <a:solidFill>
                          <a:schemeClr val="accent1"/>
                        </a:solidFill>
                      </a:ln>
                      <a:noFill/>
                      <a:latin typeface="+mj-ea"/>
                      <a:ea typeface="+mj-ea"/>
                    </a:rPr>
                    <a:t>“</a:t>
                  </a:r>
                </a:p>
              </p:txBody>
            </p:sp>
          </p:grp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9A342D13-453A-4B14-BAAD-97B4A2AA40D0}"/>
                  </a:ext>
                </a:extLst>
              </p:cNvPr>
              <p:cNvSpPr txBox="1"/>
              <p:nvPr/>
            </p:nvSpPr>
            <p:spPr>
              <a:xfrm>
                <a:off x="719441" y="3551212"/>
                <a:ext cx="1579278" cy="12003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200">
                    <a:ln w="3175">
                      <a:solidFill>
                        <a:schemeClr val="accent1"/>
                      </a:solidFill>
                    </a:ln>
                    <a:blipFill>
                      <a:blip r:embed="rId3"/>
                      <a:stretch>
                        <a:fillRect/>
                      </a:stretch>
                    </a:blipFill>
                    <a:latin typeface="+mj-ea"/>
                    <a:ea typeface="+mj-ea"/>
                  </a:rPr>
                  <a:t>3.3</a:t>
                </a:r>
                <a:endParaRPr lang="zh-CN" altLang="en-US" sz="7200">
                  <a:ln w="3175">
                    <a:solidFill>
                      <a:schemeClr val="accent1"/>
                    </a:solidFill>
                  </a:ln>
                  <a:blipFill>
                    <a:blip r:embed="rId3"/>
                    <a:stretch>
                      <a:fillRect/>
                    </a:stretch>
                  </a:blipFill>
                  <a:latin typeface="+mj-ea"/>
                  <a:ea typeface="+mj-ea"/>
                </a:endParaRPr>
              </a:p>
            </p:txBody>
          </p: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79BCB92C-26C8-47AE-83C4-E0E6001359C6}"/>
                  </a:ext>
                </a:extLst>
              </p:cNvPr>
              <p:cNvCxnSpPr>
                <a:cxnSpLocks/>
                <a:endCxn id="35" idx="1"/>
              </p:cNvCxnSpPr>
              <p:nvPr/>
            </p:nvCxnSpPr>
            <p:spPr>
              <a:xfrm flipV="1">
                <a:off x="2863479" y="4429529"/>
                <a:ext cx="6652087" cy="7777"/>
              </a:xfrm>
              <a:prstGeom prst="line">
                <a:avLst/>
              </a:prstGeom>
              <a:ln w="6350" cap="rnd">
                <a:solidFill>
                  <a:schemeClr val="accent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" name="组合 26">
                <a:extLst>
                  <a:ext uri="{FF2B5EF4-FFF2-40B4-BE49-F238E27FC236}">
                    <a16:creationId xmlns:a16="http://schemas.microsoft.com/office/drawing/2014/main" id="{F3BDCD70-4ED7-4B58-B4EA-97B5766A2ED8}"/>
                  </a:ext>
                </a:extLst>
              </p:cNvPr>
              <p:cNvGrpSpPr/>
              <p:nvPr/>
            </p:nvGrpSpPr>
            <p:grpSpPr>
              <a:xfrm>
                <a:off x="2863479" y="4125108"/>
                <a:ext cx="1685737" cy="192317"/>
                <a:chOff x="2205551" y="1812089"/>
                <a:chExt cx="952517" cy="108668"/>
              </a:xfrm>
            </p:grpSpPr>
            <p:sp>
              <p:nvSpPr>
                <p:cNvPr id="28" name="等腰三角形 27">
                  <a:extLst>
                    <a:ext uri="{FF2B5EF4-FFF2-40B4-BE49-F238E27FC236}">
                      <a16:creationId xmlns:a16="http://schemas.microsoft.com/office/drawing/2014/main" id="{1716C571-C917-4278-9C5E-B42CBAA662AC}"/>
                    </a:ext>
                  </a:extLst>
                </p:cNvPr>
                <p:cNvSpPr/>
                <p:nvPr/>
              </p:nvSpPr>
              <p:spPr>
                <a:xfrm rot="5400000" flipH="1">
                  <a:off x="2198057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等腰三角形 28">
                  <a:extLst>
                    <a:ext uri="{FF2B5EF4-FFF2-40B4-BE49-F238E27FC236}">
                      <a16:creationId xmlns:a16="http://schemas.microsoft.com/office/drawing/2014/main" id="{84945E56-71FD-4574-B8AF-0AB9430B87F1}"/>
                    </a:ext>
                  </a:extLst>
                </p:cNvPr>
                <p:cNvSpPr/>
                <p:nvPr/>
              </p:nvSpPr>
              <p:spPr>
                <a:xfrm rot="5400000" flipH="1">
                  <a:off x="2369825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等腰三角形 29">
                  <a:extLst>
                    <a:ext uri="{FF2B5EF4-FFF2-40B4-BE49-F238E27FC236}">
                      <a16:creationId xmlns:a16="http://schemas.microsoft.com/office/drawing/2014/main" id="{DB47E230-B6F4-445D-83D6-319866970D69}"/>
                    </a:ext>
                  </a:extLst>
                </p:cNvPr>
                <p:cNvSpPr/>
                <p:nvPr/>
              </p:nvSpPr>
              <p:spPr>
                <a:xfrm rot="5400000" flipH="1">
                  <a:off x="2541593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等腰三角形 30">
                  <a:extLst>
                    <a:ext uri="{FF2B5EF4-FFF2-40B4-BE49-F238E27FC236}">
                      <a16:creationId xmlns:a16="http://schemas.microsoft.com/office/drawing/2014/main" id="{0AE4CDED-8F3C-41C3-A316-F899AB2117F2}"/>
                    </a:ext>
                  </a:extLst>
                </p:cNvPr>
                <p:cNvSpPr/>
                <p:nvPr/>
              </p:nvSpPr>
              <p:spPr>
                <a:xfrm rot="5400000" flipH="1">
                  <a:off x="2713361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等腰三角形 31">
                  <a:extLst>
                    <a:ext uri="{FF2B5EF4-FFF2-40B4-BE49-F238E27FC236}">
                      <a16:creationId xmlns:a16="http://schemas.microsoft.com/office/drawing/2014/main" id="{9379EE45-C7FC-47D7-A570-2F20CBDCD51F}"/>
                    </a:ext>
                  </a:extLst>
                </p:cNvPr>
                <p:cNvSpPr/>
                <p:nvPr/>
              </p:nvSpPr>
              <p:spPr>
                <a:xfrm rot="5400000" flipH="1">
                  <a:off x="2885129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等腰三角形 32">
                  <a:extLst>
                    <a:ext uri="{FF2B5EF4-FFF2-40B4-BE49-F238E27FC236}">
                      <a16:creationId xmlns:a16="http://schemas.microsoft.com/office/drawing/2014/main" id="{8B93F476-0A58-4409-BDB9-B42AC0947C35}"/>
                    </a:ext>
                  </a:extLst>
                </p:cNvPr>
                <p:cNvSpPr/>
                <p:nvPr/>
              </p:nvSpPr>
              <p:spPr>
                <a:xfrm rot="5400000" flipH="1">
                  <a:off x="3056895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53D456A9-D5DA-4A6D-A38F-2A29E2192823}"/>
                  </a:ext>
                </a:extLst>
              </p:cNvPr>
              <p:cNvSpPr txBox="1"/>
              <p:nvPr/>
            </p:nvSpPr>
            <p:spPr>
              <a:xfrm>
                <a:off x="9515566" y="4275640"/>
                <a:ext cx="178856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1400">
                    <a:solidFill>
                      <a:schemeClr val="accent1">
                        <a:lumMod val="75000"/>
                      </a:schemeClr>
                    </a:solidFill>
                    <a:latin typeface="+mn-ea"/>
                  </a:rPr>
                  <a:t> </a:t>
                </a:r>
                <a:endParaRPr lang="zh-CN" altLang="en-US" sz="1400">
                  <a:solidFill>
                    <a:schemeClr val="accent1">
                      <a:lumMod val="75000"/>
                    </a:schemeClr>
                  </a:solidFill>
                  <a:latin typeface="+mn-ea"/>
                </a:endParaRPr>
              </a:p>
            </p:txBody>
          </p: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CA1FE248-5B87-4FEC-A06B-8EC2FA06E2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99027" y="1280160"/>
                <a:ext cx="0" cy="2961161"/>
              </a:xfrm>
              <a:prstGeom prst="line">
                <a:avLst/>
              </a:prstGeom>
              <a:ln w="9525" cap="rnd">
                <a:solidFill>
                  <a:schemeClr val="accent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5840778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BAC8C24B-971B-46A9-BB3A-8E03D9749CB2}"/>
              </a:ext>
            </a:extLst>
          </p:cNvPr>
          <p:cNvGrpSpPr/>
          <p:nvPr/>
        </p:nvGrpSpPr>
        <p:grpSpPr>
          <a:xfrm>
            <a:off x="482600" y="439828"/>
            <a:ext cx="4515980" cy="904715"/>
            <a:chOff x="482600" y="439828"/>
            <a:chExt cx="4515980" cy="904715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D3345156-5EBA-4102-AE2A-79169B096F14}"/>
                </a:ext>
              </a:extLst>
            </p:cNvPr>
            <p:cNvSpPr txBox="1"/>
            <p:nvPr/>
          </p:nvSpPr>
          <p:spPr>
            <a:xfrm>
              <a:off x="482600" y="636657"/>
              <a:ext cx="451598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000">
                  <a:solidFill>
                    <a:schemeClr val="accent1"/>
                  </a:solidFill>
                  <a:latin typeface="+mj-ea"/>
                  <a:ea typeface="+mj-ea"/>
                </a:rPr>
                <a:t>I/O</a:t>
              </a:r>
              <a:r>
                <a:rPr lang="zh-CN" altLang="en-US" sz="4000">
                  <a:solidFill>
                    <a:schemeClr val="accent1"/>
                  </a:solidFill>
                  <a:latin typeface="+mj-ea"/>
                  <a:ea typeface="+mj-ea"/>
                </a:rPr>
                <a:t>特殊功能寄存器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3FD2742-9550-4D58-9FBF-434D1920F8B9}"/>
                </a:ext>
              </a:extLst>
            </p:cNvPr>
            <p:cNvSpPr txBox="1"/>
            <p:nvPr/>
          </p:nvSpPr>
          <p:spPr>
            <a:xfrm>
              <a:off x="482600" y="439828"/>
              <a:ext cx="89639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I/O</a:t>
              </a:r>
              <a:r>
                <a:rPr lang="zh-CN" altLang="en-US" sz="1400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 </a:t>
              </a:r>
              <a:r>
                <a:rPr lang="en-US" altLang="zh-CN" sz="1400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SFRs</a:t>
              </a:r>
              <a:endParaRPr lang="zh-CN" altLang="en-US" sz="1400">
                <a:solidFill>
                  <a:schemeClr val="accent1">
                    <a:lumMod val="75000"/>
                  </a:schemeClr>
                </a:solidFill>
                <a:latin typeface="+mn-ea"/>
              </a:endParaRPr>
            </a:p>
          </p:txBody>
        </p:sp>
      </p:grp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A52332CE-2046-4C34-99B9-0CD6C8D65B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486223"/>
              </p:ext>
            </p:extLst>
          </p:nvPr>
        </p:nvGraphicFramePr>
        <p:xfrm>
          <a:off x="885785" y="1692385"/>
          <a:ext cx="10563666" cy="3258993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1037267">
                  <a:extLst>
                    <a:ext uri="{9D8B030D-6E8A-4147-A177-3AD203B41FA5}">
                      <a16:colId xmlns:a16="http://schemas.microsoft.com/office/drawing/2014/main" val="43612501"/>
                    </a:ext>
                  </a:extLst>
                </a:gridCol>
                <a:gridCol w="1228263">
                  <a:extLst>
                    <a:ext uri="{9D8B030D-6E8A-4147-A177-3AD203B41FA5}">
                      <a16:colId xmlns:a16="http://schemas.microsoft.com/office/drawing/2014/main" val="1350861845"/>
                    </a:ext>
                  </a:extLst>
                </a:gridCol>
                <a:gridCol w="1037267">
                  <a:extLst>
                    <a:ext uri="{9D8B030D-6E8A-4147-A177-3AD203B41FA5}">
                      <a16:colId xmlns:a16="http://schemas.microsoft.com/office/drawing/2014/main" val="193439685"/>
                    </a:ext>
                  </a:extLst>
                </a:gridCol>
                <a:gridCol w="1037267">
                  <a:extLst>
                    <a:ext uri="{9D8B030D-6E8A-4147-A177-3AD203B41FA5}">
                      <a16:colId xmlns:a16="http://schemas.microsoft.com/office/drawing/2014/main" val="3930351681"/>
                    </a:ext>
                  </a:extLst>
                </a:gridCol>
                <a:gridCol w="1037267">
                  <a:extLst>
                    <a:ext uri="{9D8B030D-6E8A-4147-A177-3AD203B41FA5}">
                      <a16:colId xmlns:a16="http://schemas.microsoft.com/office/drawing/2014/main" val="705068323"/>
                    </a:ext>
                  </a:extLst>
                </a:gridCol>
                <a:gridCol w="1037267">
                  <a:extLst>
                    <a:ext uri="{9D8B030D-6E8A-4147-A177-3AD203B41FA5}">
                      <a16:colId xmlns:a16="http://schemas.microsoft.com/office/drawing/2014/main" val="1353874498"/>
                    </a:ext>
                  </a:extLst>
                </a:gridCol>
                <a:gridCol w="1037267">
                  <a:extLst>
                    <a:ext uri="{9D8B030D-6E8A-4147-A177-3AD203B41FA5}">
                      <a16:colId xmlns:a16="http://schemas.microsoft.com/office/drawing/2014/main" val="4191357144"/>
                    </a:ext>
                  </a:extLst>
                </a:gridCol>
                <a:gridCol w="1037267">
                  <a:extLst>
                    <a:ext uri="{9D8B030D-6E8A-4147-A177-3AD203B41FA5}">
                      <a16:colId xmlns:a16="http://schemas.microsoft.com/office/drawing/2014/main" val="3313131284"/>
                    </a:ext>
                  </a:extLst>
                </a:gridCol>
                <a:gridCol w="1037267">
                  <a:extLst>
                    <a:ext uri="{9D8B030D-6E8A-4147-A177-3AD203B41FA5}">
                      <a16:colId xmlns:a16="http://schemas.microsoft.com/office/drawing/2014/main" val="2654856417"/>
                    </a:ext>
                  </a:extLst>
                </a:gridCol>
                <a:gridCol w="1037267">
                  <a:extLst>
                    <a:ext uri="{9D8B030D-6E8A-4147-A177-3AD203B41FA5}">
                      <a16:colId xmlns:a16="http://schemas.microsoft.com/office/drawing/2014/main" val="3864248833"/>
                    </a:ext>
                  </a:extLst>
                </a:gridCol>
              </a:tblGrid>
              <a:tr h="453662">
                <a:tc rowSpan="2">
                  <a:txBody>
                    <a:bodyPr/>
                    <a:lstStyle/>
                    <a:p>
                      <a:pPr algn="ctr"/>
                      <a:r>
                        <a:rPr lang="zh-CN" sz="1400">
                          <a:effectLst/>
                        </a:rPr>
                        <a:t>名称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D1E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sz="1400">
                          <a:effectLst/>
                        </a:rPr>
                        <a:t>字节</a:t>
                      </a:r>
                    </a:p>
                    <a:p>
                      <a:pPr algn="ctr"/>
                      <a:r>
                        <a:rPr lang="zh-CN" sz="1400">
                          <a:effectLst/>
                        </a:rPr>
                        <a:t>地址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D1E4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zh-CN" sz="1400">
                          <a:effectLst/>
                        </a:rPr>
                        <a:t>位地址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D1E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3748293"/>
                  </a:ext>
                </a:extLst>
              </a:tr>
              <a:tr h="53702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bit[7]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D1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bit[6]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D1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bit[5]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D1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bit[4]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D1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bit[3]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D1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bit[2]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D1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bit[1]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D1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bit[0]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D1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303467"/>
                  </a:ext>
                </a:extLst>
              </a:tr>
              <a:tr h="453662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P0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0x80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0x87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0x86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0x85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0x84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0x83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0x82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0x81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0x80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37331035"/>
                  </a:ext>
                </a:extLst>
              </a:tr>
              <a:tr h="453662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P1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0x90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0x97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0x96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0x95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0x94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0x93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0x92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0x91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0x90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38293755"/>
                  </a:ext>
                </a:extLst>
              </a:tr>
              <a:tr h="453662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P2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0xA0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0xA7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0xA6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0xA5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0xA4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0xA3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0xA2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0xA1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0xA0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11540835"/>
                  </a:ext>
                </a:extLst>
              </a:tr>
              <a:tr h="453662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P3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0xB0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0xB7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0xB6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0xB5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0xB4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0xB3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0xB2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0xB1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0xB0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52525059"/>
                  </a:ext>
                </a:extLst>
              </a:tr>
              <a:tr h="453662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P4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0xE8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-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-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-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-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0xEB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0xEA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0xE9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0xE8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416598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31220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-文本框 4">
            <a:extLst>
              <a:ext uri="{FF2B5EF4-FFF2-40B4-BE49-F238E27FC236}">
                <a16:creationId xmlns:a16="http://schemas.microsoft.com/office/drawing/2014/main" id="{972F1A22-112E-435D-A626-331B449E7C9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80248" y="842628"/>
            <a:ext cx="1443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2000"/>
              <a:t>按字节操作</a:t>
            </a:r>
          </a:p>
        </p:txBody>
      </p:sp>
      <p:sp>
        <p:nvSpPr>
          <p:cNvPr id="6" name="PA-文本框 5">
            <a:extLst>
              <a:ext uri="{FF2B5EF4-FFF2-40B4-BE49-F238E27FC236}">
                <a16:creationId xmlns:a16="http://schemas.microsoft.com/office/drawing/2014/main" id="{225900C2-028A-46B4-841A-3E8C51A6A8F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94378" y="880898"/>
            <a:ext cx="5765599" cy="35221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 spc="120"/>
            </a:lvl1pPr>
          </a:lstStyle>
          <a:p>
            <a:r>
              <a:rPr lang="zh-CN" altLang="en-US"/>
              <a:t>直接对整个寄存器进行赋值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46498B9-75F9-422A-97DA-21B5F66E8573}"/>
              </a:ext>
            </a:extLst>
          </p:cNvPr>
          <p:cNvSpPr/>
          <p:nvPr/>
        </p:nvSpPr>
        <p:spPr>
          <a:xfrm>
            <a:off x="680248" y="1811152"/>
            <a:ext cx="7161277" cy="35221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361950"/>
            <a:r>
              <a:rPr lang="en-US" altLang="zh-CN" sz="1400" err="1">
                <a:solidFill>
                  <a:schemeClr val="accent1">
                    <a:lumMod val="75000"/>
                  </a:schemeClr>
                </a:solidFill>
              </a:rPr>
              <a:t>sfr</a:t>
            </a:r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 P2 = 0xA0;      //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定义</a:t>
            </a:r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P2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寄存器地址</a:t>
            </a:r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0xA0</a:t>
            </a:r>
            <a:endParaRPr lang="zh-CN" altLang="en-US" sz="1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5" name="PA-文本框 5">
            <a:extLst>
              <a:ext uri="{FF2B5EF4-FFF2-40B4-BE49-F238E27FC236}">
                <a16:creationId xmlns:a16="http://schemas.microsoft.com/office/drawing/2014/main" id="{DBC09831-9BB7-40AC-9DF6-1A89ECB984A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80248" y="1326957"/>
            <a:ext cx="5765599" cy="35221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 spc="120"/>
            </a:lvl1pPr>
          </a:lstStyle>
          <a:p>
            <a:r>
              <a:rPr lang="zh-CN" altLang="en-US"/>
              <a:t>必须使用</a:t>
            </a:r>
            <a:r>
              <a:rPr lang="en-US" altLang="zh-CN" err="1"/>
              <a:t>sfr</a:t>
            </a:r>
            <a:r>
              <a:rPr lang="zh-CN" altLang="en-US"/>
              <a:t>关键字定义特殊功能寄存器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3E1B738-0702-45C7-BB91-01EEE6AB75C5}"/>
              </a:ext>
            </a:extLst>
          </p:cNvPr>
          <p:cNvSpPr/>
          <p:nvPr/>
        </p:nvSpPr>
        <p:spPr>
          <a:xfrm>
            <a:off x="680248" y="5205867"/>
            <a:ext cx="7161277" cy="3522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361950"/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P2 = 0xAF;             //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点亮</a:t>
            </a:r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LED1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和</a:t>
            </a:r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LED3      </a:t>
            </a:r>
            <a:endParaRPr lang="zh-CN" altLang="en-US" sz="1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2" name="PA-文本框 5">
            <a:extLst>
              <a:ext uri="{FF2B5EF4-FFF2-40B4-BE49-F238E27FC236}">
                <a16:creationId xmlns:a16="http://schemas.microsoft.com/office/drawing/2014/main" id="{38FE8182-5DE4-418C-AFFB-1D9E555E0517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680248" y="4721672"/>
            <a:ext cx="7343147" cy="35221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 spc="120"/>
            </a:lvl1pPr>
          </a:lstStyle>
          <a:p>
            <a:r>
              <a:rPr lang="zh-CN" altLang="en-US"/>
              <a:t>仅点亮</a:t>
            </a:r>
            <a:r>
              <a:rPr lang="en-US" altLang="zh-CN"/>
              <a:t>LED1</a:t>
            </a:r>
            <a:r>
              <a:rPr lang="zh-CN" altLang="en-US"/>
              <a:t>与</a:t>
            </a:r>
            <a:r>
              <a:rPr lang="en-US" altLang="zh-CN"/>
              <a:t>LED3</a:t>
            </a:r>
            <a:endParaRPr lang="zh-CN" altLang="en-US"/>
          </a:p>
        </p:txBody>
      </p:sp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id="{753C8B04-8822-481D-A281-FEEDB5F7D9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8359488"/>
              </p:ext>
            </p:extLst>
          </p:nvPr>
        </p:nvGraphicFramePr>
        <p:xfrm>
          <a:off x="680248" y="2515576"/>
          <a:ext cx="9235278" cy="1898007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1026142">
                  <a:extLst>
                    <a:ext uri="{9D8B030D-6E8A-4147-A177-3AD203B41FA5}">
                      <a16:colId xmlns:a16="http://schemas.microsoft.com/office/drawing/2014/main" val="43612501"/>
                    </a:ext>
                  </a:extLst>
                </a:gridCol>
                <a:gridCol w="1026142">
                  <a:extLst>
                    <a:ext uri="{9D8B030D-6E8A-4147-A177-3AD203B41FA5}">
                      <a16:colId xmlns:a16="http://schemas.microsoft.com/office/drawing/2014/main" val="193439685"/>
                    </a:ext>
                  </a:extLst>
                </a:gridCol>
                <a:gridCol w="1026142">
                  <a:extLst>
                    <a:ext uri="{9D8B030D-6E8A-4147-A177-3AD203B41FA5}">
                      <a16:colId xmlns:a16="http://schemas.microsoft.com/office/drawing/2014/main" val="3930351681"/>
                    </a:ext>
                  </a:extLst>
                </a:gridCol>
                <a:gridCol w="1026142">
                  <a:extLst>
                    <a:ext uri="{9D8B030D-6E8A-4147-A177-3AD203B41FA5}">
                      <a16:colId xmlns:a16="http://schemas.microsoft.com/office/drawing/2014/main" val="705068323"/>
                    </a:ext>
                  </a:extLst>
                </a:gridCol>
                <a:gridCol w="1026142">
                  <a:extLst>
                    <a:ext uri="{9D8B030D-6E8A-4147-A177-3AD203B41FA5}">
                      <a16:colId xmlns:a16="http://schemas.microsoft.com/office/drawing/2014/main" val="1353874498"/>
                    </a:ext>
                  </a:extLst>
                </a:gridCol>
                <a:gridCol w="1026142">
                  <a:extLst>
                    <a:ext uri="{9D8B030D-6E8A-4147-A177-3AD203B41FA5}">
                      <a16:colId xmlns:a16="http://schemas.microsoft.com/office/drawing/2014/main" val="2460627308"/>
                    </a:ext>
                  </a:extLst>
                </a:gridCol>
                <a:gridCol w="1026142">
                  <a:extLst>
                    <a:ext uri="{9D8B030D-6E8A-4147-A177-3AD203B41FA5}">
                      <a16:colId xmlns:a16="http://schemas.microsoft.com/office/drawing/2014/main" val="2371789379"/>
                    </a:ext>
                  </a:extLst>
                </a:gridCol>
                <a:gridCol w="1026142">
                  <a:extLst>
                    <a:ext uri="{9D8B030D-6E8A-4147-A177-3AD203B41FA5}">
                      <a16:colId xmlns:a16="http://schemas.microsoft.com/office/drawing/2014/main" val="165350815"/>
                    </a:ext>
                  </a:extLst>
                </a:gridCol>
                <a:gridCol w="1026142">
                  <a:extLst>
                    <a:ext uri="{9D8B030D-6E8A-4147-A177-3AD203B41FA5}">
                      <a16:colId xmlns:a16="http://schemas.microsoft.com/office/drawing/2014/main" val="2851248761"/>
                    </a:ext>
                  </a:extLst>
                </a:gridCol>
              </a:tblGrid>
              <a:tr h="5370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P2</a:t>
                      </a:r>
                      <a:endParaRPr lang="zh-CN" altLang="en-US" sz="1400" b="1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CCD1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bit[7]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D1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bit[6]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D1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bit[5]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D1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bit[4]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D1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>
                          <a:effectLst/>
                        </a:rPr>
                        <a:t>bit[3]</a:t>
                      </a:r>
                      <a:endParaRPr lang="zh-CN" alt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D1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>
                          <a:effectLst/>
                        </a:rPr>
                        <a:t>bit[2]</a:t>
                      </a:r>
                      <a:endParaRPr lang="zh-CN" alt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D1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>
                          <a:effectLst/>
                        </a:rPr>
                        <a:t>bit[1]</a:t>
                      </a:r>
                      <a:endParaRPr lang="zh-CN" alt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D1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>
                          <a:effectLst/>
                        </a:rPr>
                        <a:t>bit[0]</a:t>
                      </a:r>
                      <a:endParaRPr lang="zh-CN" alt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D1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303467"/>
                  </a:ext>
                </a:extLst>
              </a:tr>
              <a:tr h="45366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LED</a:t>
                      </a:r>
                      <a:endParaRPr lang="zh-CN" altLang="en-US" sz="1400" b="1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LED4</a:t>
                      </a:r>
                      <a:endParaRPr lang="zh-CN" altLang="en-US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LED3</a:t>
                      </a:r>
                      <a:endParaRPr lang="zh-CN" altLang="en-US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LED2</a:t>
                      </a:r>
                      <a:endParaRPr lang="zh-CN" altLang="en-US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LED1</a:t>
                      </a:r>
                      <a:endParaRPr lang="zh-CN" altLang="en-US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</a:t>
                      </a:r>
                      <a:endParaRPr lang="zh-CN" altLang="en-US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</a:t>
                      </a:r>
                      <a:endParaRPr lang="zh-CN" altLang="en-US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</a:t>
                      </a:r>
                      <a:endParaRPr lang="zh-CN" altLang="en-US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</a:t>
                      </a:r>
                      <a:endParaRPr lang="zh-CN" altLang="en-US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52525059"/>
                  </a:ext>
                </a:extLst>
              </a:tr>
              <a:tr h="45366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取值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默认值（</a:t>
                      </a:r>
                      <a:r>
                        <a:rPr lang="en-US" altLang="zh-CN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默认值（</a:t>
                      </a:r>
                      <a:r>
                        <a:rPr lang="en-US" altLang="zh-CN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默认值（</a:t>
                      </a:r>
                      <a:r>
                        <a:rPr lang="en-US" altLang="zh-CN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默认值（</a:t>
                      </a:r>
                      <a:r>
                        <a:rPr lang="en-US" altLang="zh-CN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16067074"/>
                  </a:ext>
                </a:extLst>
              </a:tr>
              <a:tr h="45366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状态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熄灭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点亮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熄灭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点亮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</a:t>
                      </a:r>
                      <a:endParaRPr lang="zh-CN" altLang="en-US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</a:t>
                      </a:r>
                      <a:endParaRPr lang="zh-CN" altLang="en-US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</a:t>
                      </a:r>
                      <a:endParaRPr lang="zh-CN" altLang="en-US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</a:t>
                      </a:r>
                      <a:endParaRPr lang="zh-CN" altLang="en-US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026479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23401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-文本框 4">
            <a:extLst>
              <a:ext uri="{FF2B5EF4-FFF2-40B4-BE49-F238E27FC236}">
                <a16:creationId xmlns:a16="http://schemas.microsoft.com/office/drawing/2014/main" id="{972F1A22-112E-435D-A626-331B449E7C9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46898" y="617278"/>
            <a:ext cx="1191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2000"/>
              <a:t>按位操作</a:t>
            </a:r>
          </a:p>
        </p:txBody>
      </p:sp>
      <p:sp>
        <p:nvSpPr>
          <p:cNvPr id="6" name="PA-文本框 5">
            <a:extLst>
              <a:ext uri="{FF2B5EF4-FFF2-40B4-BE49-F238E27FC236}">
                <a16:creationId xmlns:a16="http://schemas.microsoft.com/office/drawing/2014/main" id="{225900C2-028A-46B4-841A-3E8C51A6A8F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651798" y="641227"/>
            <a:ext cx="5765599" cy="35221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 spc="120"/>
            </a:lvl1pPr>
          </a:lstStyle>
          <a:p>
            <a:r>
              <a:rPr lang="zh-CN" altLang="zh-CN"/>
              <a:t>对可位寻址的寄存器中的某一位进行赋值</a:t>
            </a:r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46498B9-75F9-422A-97DA-21B5F66E8573}"/>
              </a:ext>
            </a:extLst>
          </p:cNvPr>
          <p:cNvSpPr/>
          <p:nvPr/>
        </p:nvSpPr>
        <p:spPr>
          <a:xfrm>
            <a:off x="651673" y="2848610"/>
            <a:ext cx="7161277" cy="35221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361950"/>
            <a:r>
              <a:rPr lang="en-US" altLang="zh-CN" sz="1400" err="1">
                <a:solidFill>
                  <a:schemeClr val="accent1">
                    <a:lumMod val="75000"/>
                  </a:schemeClr>
                </a:solidFill>
              </a:rPr>
              <a:t>sbit</a:t>
            </a:r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 LED1 = 0xA4;      //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位定义</a:t>
            </a:r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LED1</a:t>
            </a:r>
            <a:endParaRPr lang="zh-CN" altLang="en-US" sz="1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5" name="PA-文本框 5">
            <a:extLst>
              <a:ext uri="{FF2B5EF4-FFF2-40B4-BE49-F238E27FC236}">
                <a16:creationId xmlns:a16="http://schemas.microsoft.com/office/drawing/2014/main" id="{DBC09831-9BB7-40AC-9DF6-1A89ECB984A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52138" y="2487861"/>
            <a:ext cx="5765599" cy="35221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 spc="120"/>
            </a:lvl1pPr>
          </a:lstStyle>
          <a:p>
            <a:r>
              <a:rPr lang="zh-CN" altLang="en-US"/>
              <a:t>必须使用</a:t>
            </a:r>
            <a:r>
              <a:rPr lang="en-US" altLang="zh-CN" err="1"/>
              <a:t>sbit</a:t>
            </a:r>
            <a:r>
              <a:rPr lang="zh-CN" altLang="en-US"/>
              <a:t>关键字定义特殊功能寄存器的可寻址位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086D4DA-4158-4FD1-8275-3890ABF81B5A}"/>
              </a:ext>
            </a:extLst>
          </p:cNvPr>
          <p:cNvSpPr/>
          <p:nvPr/>
        </p:nvSpPr>
        <p:spPr>
          <a:xfrm>
            <a:off x="651673" y="3868759"/>
            <a:ext cx="7161277" cy="3522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361950"/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sbit LED1 = P2^4;      //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位定义</a:t>
            </a:r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LED1</a:t>
            </a:r>
            <a:endParaRPr lang="zh-CN" altLang="en-US" sz="1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PA-文本框 5">
            <a:extLst>
              <a:ext uri="{FF2B5EF4-FFF2-40B4-BE49-F238E27FC236}">
                <a16:creationId xmlns:a16="http://schemas.microsoft.com/office/drawing/2014/main" id="{89C4154E-34AC-4141-B138-96CDE553B9A8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651673" y="3516547"/>
            <a:ext cx="7343147" cy="35221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 spc="120"/>
            </a:lvl1pPr>
          </a:lstStyle>
          <a:p>
            <a:r>
              <a:rPr lang="zh-CN" altLang="en-US"/>
              <a:t>通常使用“</a:t>
            </a:r>
            <a:r>
              <a:rPr lang="en-US" altLang="zh-CN"/>
              <a:t>^</a:t>
            </a:r>
            <a:r>
              <a:rPr lang="zh-CN" altLang="en-US"/>
              <a:t>”符号找到</a:t>
            </a:r>
            <a:r>
              <a:rPr lang="en-US" altLang="zh-CN"/>
              <a:t>P2</a:t>
            </a:r>
            <a:r>
              <a:rPr lang="zh-CN" altLang="en-US"/>
              <a:t>寄存器的位地址</a:t>
            </a:r>
          </a:p>
        </p:txBody>
      </p:sp>
      <p:sp>
        <p:nvSpPr>
          <p:cNvPr id="13" name="PA-文本框 5">
            <a:extLst>
              <a:ext uri="{FF2B5EF4-FFF2-40B4-BE49-F238E27FC236}">
                <a16:creationId xmlns:a16="http://schemas.microsoft.com/office/drawing/2014/main" id="{AB96F63D-6461-4199-8EF7-1343E1BBA26B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52138" y="4541227"/>
            <a:ext cx="7342682" cy="35221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 spc="120"/>
            </a:lvl1pPr>
          </a:lstStyle>
          <a:p>
            <a:r>
              <a:rPr lang="zh-CN" altLang="en-US"/>
              <a:t>即可使用“</a:t>
            </a:r>
            <a:r>
              <a:rPr lang="en-US" altLang="zh-CN"/>
              <a:t>LED1”</a:t>
            </a:r>
            <a:r>
              <a:rPr lang="zh-CN" altLang="en-US"/>
              <a:t>改变</a:t>
            </a:r>
            <a:r>
              <a:rPr lang="en-US" altLang="zh-CN"/>
              <a:t>P2</a:t>
            </a:r>
            <a:r>
              <a:rPr lang="zh-CN" altLang="en-US"/>
              <a:t>特殊功能寄存器的值，进而改变</a:t>
            </a:r>
            <a:r>
              <a:rPr lang="en-US" altLang="zh-CN"/>
              <a:t>P2.4</a:t>
            </a:r>
            <a:r>
              <a:rPr lang="zh-CN" altLang="en-US"/>
              <a:t>引脚的电平状态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56B3135-C892-4E7B-9E73-2F6D4793872E}"/>
              </a:ext>
            </a:extLst>
          </p:cNvPr>
          <p:cNvSpPr/>
          <p:nvPr/>
        </p:nvSpPr>
        <p:spPr>
          <a:xfrm>
            <a:off x="651673" y="5003815"/>
            <a:ext cx="7161277" cy="3522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361950"/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LED1 = 0;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                    </a:t>
            </a:r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//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点亮</a:t>
            </a:r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LED1</a:t>
            </a:r>
            <a:endParaRPr lang="zh-CN" altLang="en-US" sz="140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F9F0F17A-D45A-4BA0-8E11-3D1BC3BFD5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8736475"/>
              </p:ext>
            </p:extLst>
          </p:nvPr>
        </p:nvGraphicFramePr>
        <p:xfrm>
          <a:off x="651673" y="1309164"/>
          <a:ext cx="9235278" cy="1004176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1026142">
                  <a:extLst>
                    <a:ext uri="{9D8B030D-6E8A-4147-A177-3AD203B41FA5}">
                      <a16:colId xmlns:a16="http://schemas.microsoft.com/office/drawing/2014/main" val="43612501"/>
                    </a:ext>
                  </a:extLst>
                </a:gridCol>
                <a:gridCol w="1026142">
                  <a:extLst>
                    <a:ext uri="{9D8B030D-6E8A-4147-A177-3AD203B41FA5}">
                      <a16:colId xmlns:a16="http://schemas.microsoft.com/office/drawing/2014/main" val="193439685"/>
                    </a:ext>
                  </a:extLst>
                </a:gridCol>
                <a:gridCol w="1026142">
                  <a:extLst>
                    <a:ext uri="{9D8B030D-6E8A-4147-A177-3AD203B41FA5}">
                      <a16:colId xmlns:a16="http://schemas.microsoft.com/office/drawing/2014/main" val="3930351681"/>
                    </a:ext>
                  </a:extLst>
                </a:gridCol>
                <a:gridCol w="1026142">
                  <a:extLst>
                    <a:ext uri="{9D8B030D-6E8A-4147-A177-3AD203B41FA5}">
                      <a16:colId xmlns:a16="http://schemas.microsoft.com/office/drawing/2014/main" val="705068323"/>
                    </a:ext>
                  </a:extLst>
                </a:gridCol>
                <a:gridCol w="1026142">
                  <a:extLst>
                    <a:ext uri="{9D8B030D-6E8A-4147-A177-3AD203B41FA5}">
                      <a16:colId xmlns:a16="http://schemas.microsoft.com/office/drawing/2014/main" val="1353874498"/>
                    </a:ext>
                  </a:extLst>
                </a:gridCol>
                <a:gridCol w="1026142">
                  <a:extLst>
                    <a:ext uri="{9D8B030D-6E8A-4147-A177-3AD203B41FA5}">
                      <a16:colId xmlns:a16="http://schemas.microsoft.com/office/drawing/2014/main" val="2460627308"/>
                    </a:ext>
                  </a:extLst>
                </a:gridCol>
                <a:gridCol w="1026142">
                  <a:extLst>
                    <a:ext uri="{9D8B030D-6E8A-4147-A177-3AD203B41FA5}">
                      <a16:colId xmlns:a16="http://schemas.microsoft.com/office/drawing/2014/main" val="2371789379"/>
                    </a:ext>
                  </a:extLst>
                </a:gridCol>
                <a:gridCol w="1026142">
                  <a:extLst>
                    <a:ext uri="{9D8B030D-6E8A-4147-A177-3AD203B41FA5}">
                      <a16:colId xmlns:a16="http://schemas.microsoft.com/office/drawing/2014/main" val="165350815"/>
                    </a:ext>
                  </a:extLst>
                </a:gridCol>
                <a:gridCol w="1026142">
                  <a:extLst>
                    <a:ext uri="{9D8B030D-6E8A-4147-A177-3AD203B41FA5}">
                      <a16:colId xmlns:a16="http://schemas.microsoft.com/office/drawing/2014/main" val="2851248761"/>
                    </a:ext>
                  </a:extLst>
                </a:gridCol>
              </a:tblGrid>
              <a:tr h="37336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P2</a:t>
                      </a:r>
                      <a:endParaRPr lang="zh-CN" altLang="en-US" sz="1400" b="1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CCD1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bit[7]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D1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bit[6]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D1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bit[5]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D1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bit[4]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D1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>
                          <a:effectLst/>
                        </a:rPr>
                        <a:t>bit[3]</a:t>
                      </a:r>
                      <a:endParaRPr lang="zh-CN" alt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D1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>
                          <a:effectLst/>
                        </a:rPr>
                        <a:t>bit[2]</a:t>
                      </a:r>
                      <a:endParaRPr lang="zh-CN" alt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D1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>
                          <a:effectLst/>
                        </a:rPr>
                        <a:t>bit[1]</a:t>
                      </a:r>
                      <a:endParaRPr lang="zh-CN" alt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D1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>
                          <a:effectLst/>
                        </a:rPr>
                        <a:t>bit[0]</a:t>
                      </a:r>
                      <a:endParaRPr lang="zh-CN" alt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D1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303467"/>
                  </a:ext>
                </a:extLst>
              </a:tr>
              <a:tr h="31540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effectLst/>
                        </a:rPr>
                        <a:t>地址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0xA7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0xA6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0xA5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0xA4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0xA3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0xA2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0xA1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0xA0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11540835"/>
                  </a:ext>
                </a:extLst>
              </a:tr>
              <a:tr h="31540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LED</a:t>
                      </a:r>
                      <a:endParaRPr lang="zh-CN" altLang="en-US" sz="1400" b="1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LED4</a:t>
                      </a:r>
                      <a:endParaRPr lang="zh-CN" altLang="en-US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LED3</a:t>
                      </a:r>
                      <a:endParaRPr lang="zh-CN" altLang="en-US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LED2</a:t>
                      </a:r>
                      <a:endParaRPr lang="zh-CN" altLang="en-US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LED1</a:t>
                      </a:r>
                      <a:endParaRPr lang="zh-CN" altLang="en-US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</a:t>
                      </a:r>
                      <a:endParaRPr lang="zh-CN" altLang="en-US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</a:t>
                      </a:r>
                      <a:endParaRPr lang="zh-CN" altLang="en-US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</a:t>
                      </a:r>
                      <a:endParaRPr lang="zh-CN" altLang="en-US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</a:t>
                      </a:r>
                      <a:endParaRPr lang="zh-CN" altLang="en-US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525250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86632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-文本框 4">
            <a:extLst>
              <a:ext uri="{FF2B5EF4-FFF2-40B4-BE49-F238E27FC236}">
                <a16:creationId xmlns:a16="http://schemas.microsoft.com/office/drawing/2014/main" id="{972F1A22-112E-435D-A626-331B449E7C9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46898" y="617278"/>
            <a:ext cx="1191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2000"/>
              <a:t>按位操作</a:t>
            </a:r>
          </a:p>
        </p:txBody>
      </p:sp>
      <p:sp>
        <p:nvSpPr>
          <p:cNvPr id="6" name="PA-文本框 5">
            <a:extLst>
              <a:ext uri="{FF2B5EF4-FFF2-40B4-BE49-F238E27FC236}">
                <a16:creationId xmlns:a16="http://schemas.microsoft.com/office/drawing/2014/main" id="{225900C2-028A-46B4-841A-3E8C51A6A8F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651798" y="641227"/>
            <a:ext cx="5765599" cy="35221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 spc="120"/>
            </a:lvl1pPr>
          </a:lstStyle>
          <a:p>
            <a:r>
              <a:rPr lang="zh-CN" altLang="zh-CN"/>
              <a:t>对可位寻址的寄存器中的某一位进行赋值</a:t>
            </a:r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46498B9-75F9-422A-97DA-21B5F66E8573}"/>
              </a:ext>
            </a:extLst>
          </p:cNvPr>
          <p:cNvSpPr/>
          <p:nvPr/>
        </p:nvSpPr>
        <p:spPr>
          <a:xfrm>
            <a:off x="651673" y="2848610"/>
            <a:ext cx="7161277" cy="35221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361950"/>
            <a:r>
              <a:rPr lang="en-US" altLang="zh-CN" sz="1400" err="1">
                <a:solidFill>
                  <a:schemeClr val="accent1">
                    <a:lumMod val="75000"/>
                  </a:schemeClr>
                </a:solidFill>
              </a:rPr>
              <a:t>sbit</a:t>
            </a:r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 LED1 = 0xA4;      //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位定义</a:t>
            </a:r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LED1</a:t>
            </a:r>
            <a:endParaRPr lang="zh-CN" altLang="en-US" sz="1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5" name="PA-文本框 5">
            <a:extLst>
              <a:ext uri="{FF2B5EF4-FFF2-40B4-BE49-F238E27FC236}">
                <a16:creationId xmlns:a16="http://schemas.microsoft.com/office/drawing/2014/main" id="{DBC09831-9BB7-40AC-9DF6-1A89ECB984A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52138" y="2487861"/>
            <a:ext cx="5765599" cy="35221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 spc="120"/>
            </a:lvl1pPr>
          </a:lstStyle>
          <a:p>
            <a:r>
              <a:rPr lang="zh-CN" altLang="en-US"/>
              <a:t>必须使用</a:t>
            </a:r>
            <a:r>
              <a:rPr lang="en-US" altLang="zh-CN" err="1"/>
              <a:t>sbit</a:t>
            </a:r>
            <a:r>
              <a:rPr lang="zh-CN" altLang="en-US"/>
              <a:t>关键字定义特殊功能寄存器的可寻址位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086D4DA-4158-4FD1-8275-3890ABF81B5A}"/>
              </a:ext>
            </a:extLst>
          </p:cNvPr>
          <p:cNvSpPr/>
          <p:nvPr/>
        </p:nvSpPr>
        <p:spPr>
          <a:xfrm>
            <a:off x="651673" y="3868759"/>
            <a:ext cx="7161277" cy="3522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361950"/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sbit LED1 = P2^4;      //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位定义</a:t>
            </a:r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LED1</a:t>
            </a:r>
            <a:endParaRPr lang="zh-CN" altLang="en-US" sz="1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PA-文本框 5">
            <a:extLst>
              <a:ext uri="{FF2B5EF4-FFF2-40B4-BE49-F238E27FC236}">
                <a16:creationId xmlns:a16="http://schemas.microsoft.com/office/drawing/2014/main" id="{89C4154E-34AC-4141-B138-96CDE553B9A8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651673" y="3516547"/>
            <a:ext cx="7343147" cy="35221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 spc="120"/>
            </a:lvl1pPr>
          </a:lstStyle>
          <a:p>
            <a:r>
              <a:rPr lang="zh-CN" altLang="en-US"/>
              <a:t>通常使用“</a:t>
            </a:r>
            <a:r>
              <a:rPr lang="en-US" altLang="zh-CN"/>
              <a:t>^</a:t>
            </a:r>
            <a:r>
              <a:rPr lang="zh-CN" altLang="en-US"/>
              <a:t>”符号找到</a:t>
            </a:r>
            <a:r>
              <a:rPr lang="en-US" altLang="zh-CN"/>
              <a:t>P2</a:t>
            </a:r>
            <a:r>
              <a:rPr lang="zh-CN" altLang="en-US"/>
              <a:t>寄存器的位地址</a:t>
            </a:r>
          </a:p>
        </p:txBody>
      </p:sp>
      <p:sp>
        <p:nvSpPr>
          <p:cNvPr id="13" name="PA-文本框 5">
            <a:extLst>
              <a:ext uri="{FF2B5EF4-FFF2-40B4-BE49-F238E27FC236}">
                <a16:creationId xmlns:a16="http://schemas.microsoft.com/office/drawing/2014/main" id="{AB96F63D-6461-4199-8EF7-1343E1BBA26B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52138" y="4541227"/>
            <a:ext cx="7342682" cy="35221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 spc="120"/>
            </a:lvl1pPr>
          </a:lstStyle>
          <a:p>
            <a:r>
              <a:rPr lang="zh-CN" altLang="en-US"/>
              <a:t>即可使用“</a:t>
            </a:r>
            <a:r>
              <a:rPr lang="en-US" altLang="zh-CN"/>
              <a:t>LED1”</a:t>
            </a:r>
            <a:r>
              <a:rPr lang="zh-CN" altLang="en-US"/>
              <a:t>改变</a:t>
            </a:r>
            <a:r>
              <a:rPr lang="en-US" altLang="zh-CN"/>
              <a:t>P2</a:t>
            </a:r>
            <a:r>
              <a:rPr lang="zh-CN" altLang="en-US"/>
              <a:t>特殊功能寄存器的值，进而改变</a:t>
            </a:r>
            <a:r>
              <a:rPr lang="en-US" altLang="zh-CN"/>
              <a:t>P2.4</a:t>
            </a:r>
            <a:r>
              <a:rPr lang="zh-CN" altLang="en-US"/>
              <a:t>引脚的电平状态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56B3135-C892-4E7B-9E73-2F6D4793872E}"/>
              </a:ext>
            </a:extLst>
          </p:cNvPr>
          <p:cNvSpPr/>
          <p:nvPr/>
        </p:nvSpPr>
        <p:spPr>
          <a:xfrm>
            <a:off x="651673" y="5003815"/>
            <a:ext cx="7161277" cy="3522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361950"/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LED1 = 0;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                    </a:t>
            </a:r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//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点亮</a:t>
            </a:r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LED1</a:t>
            </a:r>
            <a:endParaRPr lang="zh-CN" altLang="en-US" sz="140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F9F0F17A-D45A-4BA0-8E11-3D1BC3BFD5EB}"/>
              </a:ext>
            </a:extLst>
          </p:cNvPr>
          <p:cNvGraphicFramePr>
            <a:graphicFrameLocks noGrp="1"/>
          </p:cNvGraphicFramePr>
          <p:nvPr/>
        </p:nvGraphicFramePr>
        <p:xfrm>
          <a:off x="651673" y="1309164"/>
          <a:ext cx="9235278" cy="1004176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1026142">
                  <a:extLst>
                    <a:ext uri="{9D8B030D-6E8A-4147-A177-3AD203B41FA5}">
                      <a16:colId xmlns:a16="http://schemas.microsoft.com/office/drawing/2014/main" val="43612501"/>
                    </a:ext>
                  </a:extLst>
                </a:gridCol>
                <a:gridCol w="1026142">
                  <a:extLst>
                    <a:ext uri="{9D8B030D-6E8A-4147-A177-3AD203B41FA5}">
                      <a16:colId xmlns:a16="http://schemas.microsoft.com/office/drawing/2014/main" val="193439685"/>
                    </a:ext>
                  </a:extLst>
                </a:gridCol>
                <a:gridCol w="1026142">
                  <a:extLst>
                    <a:ext uri="{9D8B030D-6E8A-4147-A177-3AD203B41FA5}">
                      <a16:colId xmlns:a16="http://schemas.microsoft.com/office/drawing/2014/main" val="3930351681"/>
                    </a:ext>
                  </a:extLst>
                </a:gridCol>
                <a:gridCol w="1026142">
                  <a:extLst>
                    <a:ext uri="{9D8B030D-6E8A-4147-A177-3AD203B41FA5}">
                      <a16:colId xmlns:a16="http://schemas.microsoft.com/office/drawing/2014/main" val="705068323"/>
                    </a:ext>
                  </a:extLst>
                </a:gridCol>
                <a:gridCol w="1026142">
                  <a:extLst>
                    <a:ext uri="{9D8B030D-6E8A-4147-A177-3AD203B41FA5}">
                      <a16:colId xmlns:a16="http://schemas.microsoft.com/office/drawing/2014/main" val="1353874498"/>
                    </a:ext>
                  </a:extLst>
                </a:gridCol>
                <a:gridCol w="1026142">
                  <a:extLst>
                    <a:ext uri="{9D8B030D-6E8A-4147-A177-3AD203B41FA5}">
                      <a16:colId xmlns:a16="http://schemas.microsoft.com/office/drawing/2014/main" val="2460627308"/>
                    </a:ext>
                  </a:extLst>
                </a:gridCol>
                <a:gridCol w="1026142">
                  <a:extLst>
                    <a:ext uri="{9D8B030D-6E8A-4147-A177-3AD203B41FA5}">
                      <a16:colId xmlns:a16="http://schemas.microsoft.com/office/drawing/2014/main" val="2371789379"/>
                    </a:ext>
                  </a:extLst>
                </a:gridCol>
                <a:gridCol w="1026142">
                  <a:extLst>
                    <a:ext uri="{9D8B030D-6E8A-4147-A177-3AD203B41FA5}">
                      <a16:colId xmlns:a16="http://schemas.microsoft.com/office/drawing/2014/main" val="165350815"/>
                    </a:ext>
                  </a:extLst>
                </a:gridCol>
                <a:gridCol w="1026142">
                  <a:extLst>
                    <a:ext uri="{9D8B030D-6E8A-4147-A177-3AD203B41FA5}">
                      <a16:colId xmlns:a16="http://schemas.microsoft.com/office/drawing/2014/main" val="2851248761"/>
                    </a:ext>
                  </a:extLst>
                </a:gridCol>
              </a:tblGrid>
              <a:tr h="37336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P2</a:t>
                      </a:r>
                      <a:endParaRPr lang="zh-CN" altLang="en-US" sz="1400" b="1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CCD1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bit[7]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D1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bit[6]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D1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bit[5]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D1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bit[4]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D1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>
                          <a:effectLst/>
                        </a:rPr>
                        <a:t>bit[3]</a:t>
                      </a:r>
                      <a:endParaRPr lang="zh-CN" alt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D1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>
                          <a:effectLst/>
                        </a:rPr>
                        <a:t>bit[2]</a:t>
                      </a:r>
                      <a:endParaRPr lang="zh-CN" alt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D1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>
                          <a:effectLst/>
                        </a:rPr>
                        <a:t>bit[1]</a:t>
                      </a:r>
                      <a:endParaRPr lang="zh-CN" alt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D1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>
                          <a:effectLst/>
                        </a:rPr>
                        <a:t>bit[0]</a:t>
                      </a:r>
                      <a:endParaRPr lang="zh-CN" alt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D1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303467"/>
                  </a:ext>
                </a:extLst>
              </a:tr>
              <a:tr h="31540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effectLst/>
                        </a:rPr>
                        <a:t>地址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0xA7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0xA6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0xA5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0xA4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0xA3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0xA2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0xA1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0xA0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11540835"/>
                  </a:ext>
                </a:extLst>
              </a:tr>
              <a:tr h="31540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LED</a:t>
                      </a:r>
                      <a:endParaRPr lang="zh-CN" altLang="en-US" sz="1400" b="1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LED4</a:t>
                      </a:r>
                      <a:endParaRPr lang="zh-CN" altLang="en-US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LED3</a:t>
                      </a:r>
                      <a:endParaRPr lang="zh-CN" altLang="en-US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LED2</a:t>
                      </a:r>
                      <a:endParaRPr lang="zh-CN" altLang="en-US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LED1</a:t>
                      </a:r>
                      <a:endParaRPr lang="zh-CN" altLang="en-US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</a:t>
                      </a:r>
                      <a:endParaRPr lang="zh-CN" altLang="en-US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</a:t>
                      </a:r>
                      <a:endParaRPr lang="zh-CN" altLang="en-US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</a:t>
                      </a:r>
                      <a:endParaRPr lang="zh-CN" altLang="en-US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</a:t>
                      </a:r>
                      <a:endParaRPr lang="zh-CN" altLang="en-US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52525059"/>
                  </a:ext>
                </a:extLst>
              </a:tr>
            </a:tbl>
          </a:graphicData>
        </a:graphic>
      </p:graphicFrame>
      <p:pic>
        <p:nvPicPr>
          <p:cNvPr id="2" name="图片 1">
            <a:extLst>
              <a:ext uri="{FF2B5EF4-FFF2-40B4-BE49-F238E27FC236}">
                <a16:creationId xmlns:a16="http://schemas.microsoft.com/office/drawing/2014/main" id="{26B77ACE-DA3D-40A3-982F-CB39E7595F1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66988" y="2629065"/>
            <a:ext cx="4225012" cy="1338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18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8825557E-601A-41F5-BDB7-613F85FA87E2}"/>
              </a:ext>
            </a:extLst>
          </p:cNvPr>
          <p:cNvGrpSpPr/>
          <p:nvPr/>
        </p:nvGrpSpPr>
        <p:grpSpPr>
          <a:xfrm>
            <a:off x="482600" y="1543767"/>
            <a:ext cx="11226800" cy="3770466"/>
            <a:chOff x="482600" y="981075"/>
            <a:chExt cx="11226800" cy="3770466"/>
          </a:xfrm>
        </p:grpSpPr>
        <p:sp>
          <p:nvSpPr>
            <p:cNvPr id="2" name="矩形: 对角圆角 1">
              <a:extLst>
                <a:ext uri="{FF2B5EF4-FFF2-40B4-BE49-F238E27FC236}">
                  <a16:creationId xmlns:a16="http://schemas.microsoft.com/office/drawing/2014/main" id="{10B588B5-A5A0-428D-9822-DA726FB33C99}"/>
                </a:ext>
              </a:extLst>
            </p:cNvPr>
            <p:cNvSpPr/>
            <p:nvPr/>
          </p:nvSpPr>
          <p:spPr>
            <a:xfrm>
              <a:off x="482600" y="981075"/>
              <a:ext cx="11226800" cy="3691072"/>
            </a:xfrm>
            <a:prstGeom prst="round2DiagRect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  <a:effectLst>
              <a:outerShdw blurRad="127000" dist="63500" dir="2700000" algn="tl" rotWithShape="0">
                <a:schemeClr val="accent2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0DD4C794-7A83-4673-A011-F182F8491995}"/>
                </a:ext>
              </a:extLst>
            </p:cNvPr>
            <p:cNvGrpSpPr/>
            <p:nvPr/>
          </p:nvGrpSpPr>
          <p:grpSpPr>
            <a:xfrm>
              <a:off x="507793" y="1280160"/>
              <a:ext cx="10860738" cy="3471381"/>
              <a:chOff x="443388" y="1280160"/>
              <a:chExt cx="10860738" cy="3471381"/>
            </a:xfrm>
          </p:grpSpPr>
          <p:grpSp>
            <p:nvGrpSpPr>
              <p:cNvPr id="24" name="组合 23">
                <a:extLst>
                  <a:ext uri="{FF2B5EF4-FFF2-40B4-BE49-F238E27FC236}">
                    <a16:creationId xmlns:a16="http://schemas.microsoft.com/office/drawing/2014/main" id="{F7861F16-9885-4D93-8329-EF04DC49B9D7}"/>
                  </a:ext>
                </a:extLst>
              </p:cNvPr>
              <p:cNvGrpSpPr/>
              <p:nvPr/>
            </p:nvGrpSpPr>
            <p:grpSpPr>
              <a:xfrm>
                <a:off x="443388" y="1370293"/>
                <a:ext cx="6900096" cy="1739256"/>
                <a:chOff x="-15896" y="866380"/>
                <a:chExt cx="6900096" cy="1739256"/>
              </a:xfrm>
            </p:grpSpPr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11A3B8B6-46FC-4E85-9FBF-535782AF2AE4}"/>
                    </a:ext>
                  </a:extLst>
                </p:cNvPr>
                <p:cNvSpPr txBox="1"/>
                <p:nvPr/>
              </p:nvSpPr>
              <p:spPr>
                <a:xfrm>
                  <a:off x="337215" y="1405307"/>
                  <a:ext cx="6546985" cy="12003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7200">
                      <a:solidFill>
                        <a:schemeClr val="accent1"/>
                      </a:solidFill>
                      <a:latin typeface="+mj-ea"/>
                      <a:ea typeface="+mj-ea"/>
                    </a:rPr>
                    <a:t>实例与代码解析</a:t>
                  </a:r>
                </a:p>
              </p:txBody>
            </p:sp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B10E2737-D3EA-4121-98D2-DDEDE22C7214}"/>
                    </a:ext>
                  </a:extLst>
                </p:cNvPr>
                <p:cNvSpPr txBox="1"/>
                <p:nvPr/>
              </p:nvSpPr>
              <p:spPr>
                <a:xfrm>
                  <a:off x="-15896" y="866380"/>
                  <a:ext cx="1093569" cy="12003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7200">
                      <a:ln>
                        <a:solidFill>
                          <a:schemeClr val="accent1"/>
                        </a:solidFill>
                      </a:ln>
                      <a:noFill/>
                      <a:latin typeface="+mj-ea"/>
                      <a:ea typeface="+mj-ea"/>
                    </a:rPr>
                    <a:t>“</a:t>
                  </a:r>
                </a:p>
              </p:txBody>
            </p:sp>
          </p:grp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9A342D13-453A-4B14-BAAD-97B4A2AA40D0}"/>
                  </a:ext>
                </a:extLst>
              </p:cNvPr>
              <p:cNvSpPr txBox="1"/>
              <p:nvPr/>
            </p:nvSpPr>
            <p:spPr>
              <a:xfrm>
                <a:off x="719441" y="3551212"/>
                <a:ext cx="1579278" cy="12003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200">
                    <a:ln w="3175">
                      <a:solidFill>
                        <a:schemeClr val="accent1"/>
                      </a:solidFill>
                    </a:ln>
                    <a:blipFill>
                      <a:blip r:embed="rId3"/>
                      <a:stretch>
                        <a:fillRect/>
                      </a:stretch>
                    </a:blipFill>
                    <a:latin typeface="+mj-ea"/>
                    <a:ea typeface="+mj-ea"/>
                  </a:rPr>
                  <a:t>3.5</a:t>
                </a:r>
                <a:endParaRPr lang="zh-CN" altLang="en-US" sz="7200">
                  <a:ln w="3175">
                    <a:solidFill>
                      <a:schemeClr val="accent1"/>
                    </a:solidFill>
                  </a:ln>
                  <a:blipFill>
                    <a:blip r:embed="rId3"/>
                    <a:stretch>
                      <a:fillRect/>
                    </a:stretch>
                  </a:blipFill>
                  <a:latin typeface="+mj-ea"/>
                  <a:ea typeface="+mj-ea"/>
                </a:endParaRPr>
              </a:p>
            </p:txBody>
          </p: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79BCB92C-26C8-47AE-83C4-E0E6001359C6}"/>
                  </a:ext>
                </a:extLst>
              </p:cNvPr>
              <p:cNvCxnSpPr>
                <a:cxnSpLocks/>
                <a:endCxn id="35" idx="1"/>
              </p:cNvCxnSpPr>
              <p:nvPr/>
            </p:nvCxnSpPr>
            <p:spPr>
              <a:xfrm flipV="1">
                <a:off x="2863479" y="4429529"/>
                <a:ext cx="6652087" cy="7777"/>
              </a:xfrm>
              <a:prstGeom prst="line">
                <a:avLst/>
              </a:prstGeom>
              <a:ln w="6350" cap="rnd">
                <a:solidFill>
                  <a:schemeClr val="accent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" name="组合 26">
                <a:extLst>
                  <a:ext uri="{FF2B5EF4-FFF2-40B4-BE49-F238E27FC236}">
                    <a16:creationId xmlns:a16="http://schemas.microsoft.com/office/drawing/2014/main" id="{F3BDCD70-4ED7-4B58-B4EA-97B5766A2ED8}"/>
                  </a:ext>
                </a:extLst>
              </p:cNvPr>
              <p:cNvGrpSpPr/>
              <p:nvPr/>
            </p:nvGrpSpPr>
            <p:grpSpPr>
              <a:xfrm>
                <a:off x="2863479" y="4125108"/>
                <a:ext cx="1685737" cy="192317"/>
                <a:chOff x="2205551" y="1812089"/>
                <a:chExt cx="952517" cy="108668"/>
              </a:xfrm>
            </p:grpSpPr>
            <p:sp>
              <p:nvSpPr>
                <p:cNvPr id="28" name="等腰三角形 27">
                  <a:extLst>
                    <a:ext uri="{FF2B5EF4-FFF2-40B4-BE49-F238E27FC236}">
                      <a16:creationId xmlns:a16="http://schemas.microsoft.com/office/drawing/2014/main" id="{1716C571-C917-4278-9C5E-B42CBAA662AC}"/>
                    </a:ext>
                  </a:extLst>
                </p:cNvPr>
                <p:cNvSpPr/>
                <p:nvPr/>
              </p:nvSpPr>
              <p:spPr>
                <a:xfrm rot="5400000" flipH="1">
                  <a:off x="2198057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等腰三角形 28">
                  <a:extLst>
                    <a:ext uri="{FF2B5EF4-FFF2-40B4-BE49-F238E27FC236}">
                      <a16:creationId xmlns:a16="http://schemas.microsoft.com/office/drawing/2014/main" id="{84945E56-71FD-4574-B8AF-0AB9430B87F1}"/>
                    </a:ext>
                  </a:extLst>
                </p:cNvPr>
                <p:cNvSpPr/>
                <p:nvPr/>
              </p:nvSpPr>
              <p:spPr>
                <a:xfrm rot="5400000" flipH="1">
                  <a:off x="2369825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等腰三角形 29">
                  <a:extLst>
                    <a:ext uri="{FF2B5EF4-FFF2-40B4-BE49-F238E27FC236}">
                      <a16:creationId xmlns:a16="http://schemas.microsoft.com/office/drawing/2014/main" id="{DB47E230-B6F4-445D-83D6-319866970D69}"/>
                    </a:ext>
                  </a:extLst>
                </p:cNvPr>
                <p:cNvSpPr/>
                <p:nvPr/>
              </p:nvSpPr>
              <p:spPr>
                <a:xfrm rot="5400000" flipH="1">
                  <a:off x="2541593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等腰三角形 30">
                  <a:extLst>
                    <a:ext uri="{FF2B5EF4-FFF2-40B4-BE49-F238E27FC236}">
                      <a16:creationId xmlns:a16="http://schemas.microsoft.com/office/drawing/2014/main" id="{0AE4CDED-8F3C-41C3-A316-F899AB2117F2}"/>
                    </a:ext>
                  </a:extLst>
                </p:cNvPr>
                <p:cNvSpPr/>
                <p:nvPr/>
              </p:nvSpPr>
              <p:spPr>
                <a:xfrm rot="5400000" flipH="1">
                  <a:off x="2713361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等腰三角形 31">
                  <a:extLst>
                    <a:ext uri="{FF2B5EF4-FFF2-40B4-BE49-F238E27FC236}">
                      <a16:creationId xmlns:a16="http://schemas.microsoft.com/office/drawing/2014/main" id="{9379EE45-C7FC-47D7-A570-2F20CBDCD51F}"/>
                    </a:ext>
                  </a:extLst>
                </p:cNvPr>
                <p:cNvSpPr/>
                <p:nvPr/>
              </p:nvSpPr>
              <p:spPr>
                <a:xfrm rot="5400000" flipH="1">
                  <a:off x="2885129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等腰三角形 32">
                  <a:extLst>
                    <a:ext uri="{FF2B5EF4-FFF2-40B4-BE49-F238E27FC236}">
                      <a16:creationId xmlns:a16="http://schemas.microsoft.com/office/drawing/2014/main" id="{8B93F476-0A58-4409-BDB9-B42AC0947C35}"/>
                    </a:ext>
                  </a:extLst>
                </p:cNvPr>
                <p:cNvSpPr/>
                <p:nvPr/>
              </p:nvSpPr>
              <p:spPr>
                <a:xfrm rot="5400000" flipH="1">
                  <a:off x="3056895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53D456A9-D5DA-4A6D-A38F-2A29E2192823}"/>
                  </a:ext>
                </a:extLst>
              </p:cNvPr>
              <p:cNvSpPr txBox="1"/>
              <p:nvPr/>
            </p:nvSpPr>
            <p:spPr>
              <a:xfrm>
                <a:off x="9515566" y="4275640"/>
                <a:ext cx="178856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1400">
                    <a:solidFill>
                      <a:schemeClr val="accent1">
                        <a:lumMod val="75000"/>
                      </a:schemeClr>
                    </a:solidFill>
                    <a:latin typeface="+mn-ea"/>
                  </a:rPr>
                  <a:t> </a:t>
                </a:r>
                <a:endParaRPr lang="zh-CN" altLang="en-US" sz="1400">
                  <a:solidFill>
                    <a:schemeClr val="accent1">
                      <a:lumMod val="75000"/>
                    </a:schemeClr>
                  </a:solidFill>
                  <a:latin typeface="+mn-ea"/>
                </a:endParaRPr>
              </a:p>
            </p:txBody>
          </p: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CA1FE248-5B87-4FEC-A06B-8EC2FA06E2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99027" y="1280160"/>
                <a:ext cx="0" cy="2961161"/>
              </a:xfrm>
              <a:prstGeom prst="line">
                <a:avLst/>
              </a:prstGeom>
              <a:ln w="9525" cap="rnd">
                <a:solidFill>
                  <a:schemeClr val="accent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14BF7B26-4577-454D-A60E-F56E304F34DC}"/>
              </a:ext>
            </a:extLst>
          </p:cNvPr>
          <p:cNvSpPr txBox="1"/>
          <p:nvPr/>
        </p:nvSpPr>
        <p:spPr>
          <a:xfrm>
            <a:off x="7638680" y="2602251"/>
            <a:ext cx="2862469" cy="795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1600"/>
              <a:t>按位控制流水灯</a:t>
            </a:r>
            <a:endParaRPr lang="en-US" altLang="zh-CN" sz="160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1600"/>
              <a:t>按字节控制流水灯</a:t>
            </a:r>
          </a:p>
        </p:txBody>
      </p:sp>
    </p:spTree>
    <p:extLst>
      <p:ext uri="{BB962C8B-B14F-4D97-AF65-F5344CB8AC3E}">
        <p14:creationId xmlns:p14="http://schemas.microsoft.com/office/powerpoint/2010/main" val="33514738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BAC8C24B-971B-46A9-BB3A-8E03D9749CB2}"/>
              </a:ext>
            </a:extLst>
          </p:cNvPr>
          <p:cNvGrpSpPr/>
          <p:nvPr/>
        </p:nvGrpSpPr>
        <p:grpSpPr>
          <a:xfrm>
            <a:off x="482600" y="439828"/>
            <a:ext cx="5091458" cy="904715"/>
            <a:chOff x="482600" y="439828"/>
            <a:chExt cx="5091458" cy="904715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D3345156-5EBA-4102-AE2A-79169B096F14}"/>
                </a:ext>
              </a:extLst>
            </p:cNvPr>
            <p:cNvSpPr txBox="1"/>
            <p:nvPr/>
          </p:nvSpPr>
          <p:spPr>
            <a:xfrm>
              <a:off x="482600" y="636657"/>
              <a:ext cx="509145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000">
                  <a:solidFill>
                    <a:schemeClr val="accent1"/>
                  </a:solidFill>
                  <a:latin typeface="+mj-ea"/>
                  <a:ea typeface="+mj-ea"/>
                </a:rPr>
                <a:t>实例</a:t>
              </a:r>
              <a:r>
                <a:rPr lang="en-US" altLang="zh-CN" sz="4000">
                  <a:solidFill>
                    <a:schemeClr val="accent1"/>
                  </a:solidFill>
                  <a:latin typeface="+mj-ea"/>
                  <a:ea typeface="+mj-ea"/>
                </a:rPr>
                <a:t>-</a:t>
              </a:r>
              <a:r>
                <a:rPr lang="zh-CN" altLang="en-US" sz="4000">
                  <a:solidFill>
                    <a:schemeClr val="accent1"/>
                  </a:solidFill>
                  <a:latin typeface="+mj-ea"/>
                  <a:ea typeface="+mj-ea"/>
                </a:rPr>
                <a:t>按位控制流水灯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3FD2742-9550-4D58-9FBF-434D1920F8B9}"/>
                </a:ext>
              </a:extLst>
            </p:cNvPr>
            <p:cNvSpPr txBox="1"/>
            <p:nvPr/>
          </p:nvSpPr>
          <p:spPr>
            <a:xfrm>
              <a:off x="482600" y="439828"/>
              <a:ext cx="92204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Example</a:t>
              </a:r>
              <a:endParaRPr lang="zh-CN" altLang="en-US" sz="1400">
                <a:solidFill>
                  <a:schemeClr val="accent1">
                    <a:lumMod val="75000"/>
                  </a:schemeClr>
                </a:solidFill>
                <a:latin typeface="+mn-ea"/>
              </a:endParaRPr>
            </a:p>
          </p:txBody>
        </p:sp>
      </p:grp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EF675E6F-7D4D-45DE-B680-44DE0B5821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3416902"/>
              </p:ext>
            </p:extLst>
          </p:nvPr>
        </p:nvGraphicFramePr>
        <p:xfrm>
          <a:off x="6404004" y="250166"/>
          <a:ext cx="2467622" cy="57659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2" name="Visio" r:id="rId7" imgW="1607217" imgH="3736408" progId="Visio.Drawing.11">
                  <p:embed/>
                </p:oleObj>
              </mc:Choice>
              <mc:Fallback>
                <p:oleObj name="Visio" r:id="rId7" imgW="1607217" imgH="3736408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4004" y="250166"/>
                        <a:ext cx="2467622" cy="576592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PA-文本框 5">
            <a:extLst>
              <a:ext uri="{FF2B5EF4-FFF2-40B4-BE49-F238E27FC236}">
                <a16:creationId xmlns:a16="http://schemas.microsoft.com/office/drawing/2014/main" id="{F30F2B45-C872-4B36-AA3D-54EDD20580D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74430" y="3849830"/>
            <a:ext cx="7342682" cy="150348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 spc="120"/>
            </a:lvl1pPr>
          </a:lstStyle>
          <a:p>
            <a:pPr>
              <a:lnSpc>
                <a:spcPct val="200000"/>
              </a:lnSpc>
            </a:pPr>
            <a:r>
              <a:rPr lang="zh-CN" altLang="en-US" sz="1600"/>
              <a:t>（</a:t>
            </a:r>
            <a:r>
              <a:rPr lang="en-US" altLang="zh-CN" sz="1600"/>
              <a:t>1</a:t>
            </a:r>
            <a:r>
              <a:rPr lang="zh-CN" altLang="en-US" sz="1600"/>
              <a:t>）定义需要控制的特殊功能寄存器位。</a:t>
            </a:r>
          </a:p>
          <a:p>
            <a:pPr>
              <a:lnSpc>
                <a:spcPct val="200000"/>
              </a:lnSpc>
            </a:pPr>
            <a:r>
              <a:rPr lang="zh-CN" altLang="en-US" sz="1600"/>
              <a:t>（</a:t>
            </a:r>
            <a:r>
              <a:rPr lang="en-US" altLang="zh-CN" sz="1600"/>
              <a:t>2</a:t>
            </a:r>
            <a:r>
              <a:rPr lang="zh-CN" altLang="en-US" sz="1600"/>
              <a:t>）编写延时函数，实现延时功能。</a:t>
            </a:r>
          </a:p>
          <a:p>
            <a:pPr>
              <a:lnSpc>
                <a:spcPct val="200000"/>
              </a:lnSpc>
            </a:pPr>
            <a:r>
              <a:rPr lang="zh-CN" altLang="en-US" sz="1600"/>
              <a:t>（</a:t>
            </a:r>
            <a:r>
              <a:rPr lang="en-US" altLang="zh-CN" sz="1600"/>
              <a:t>3</a:t>
            </a:r>
            <a:r>
              <a:rPr lang="zh-CN" altLang="en-US" sz="1600"/>
              <a:t>）依次控制每颗</a:t>
            </a:r>
            <a:r>
              <a:rPr lang="en-US" altLang="zh-CN" sz="1600"/>
              <a:t>LED</a:t>
            </a:r>
            <a:r>
              <a:rPr lang="zh-CN" altLang="en-US" sz="1600"/>
              <a:t>灯点亮与熄灭。</a:t>
            </a:r>
          </a:p>
        </p:txBody>
      </p:sp>
      <p:sp>
        <p:nvSpPr>
          <p:cNvPr id="11" name="PA-文本框 4">
            <a:extLst>
              <a:ext uri="{FF2B5EF4-FFF2-40B4-BE49-F238E27FC236}">
                <a16:creationId xmlns:a16="http://schemas.microsoft.com/office/drawing/2014/main" id="{877E1089-34A3-48A6-B278-56FBAA1936B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807055" y="3430830"/>
            <a:ext cx="1191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2000"/>
              <a:t>编程要点</a:t>
            </a:r>
          </a:p>
        </p:txBody>
      </p:sp>
      <p:sp>
        <p:nvSpPr>
          <p:cNvPr id="12" name="PA-文本框 5">
            <a:extLst>
              <a:ext uri="{FF2B5EF4-FFF2-40B4-BE49-F238E27FC236}">
                <a16:creationId xmlns:a16="http://schemas.microsoft.com/office/drawing/2014/main" id="{0882D0D5-6A91-4CF6-9AD9-DBADF2104EB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774430" y="1749403"/>
            <a:ext cx="5091458" cy="101104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 spc="120"/>
            </a:lvl1pPr>
          </a:lstStyle>
          <a:p>
            <a:pPr>
              <a:lnSpc>
                <a:spcPct val="200000"/>
              </a:lnSpc>
            </a:pPr>
            <a:r>
              <a:rPr lang="zh-CN" altLang="en-US" sz="1600"/>
              <a:t>基于</a:t>
            </a:r>
            <a:r>
              <a:rPr lang="en-US" altLang="zh-CN" sz="1600"/>
              <a:t>51</a:t>
            </a:r>
            <a:r>
              <a:rPr lang="zh-CN" altLang="en-US" sz="1600"/>
              <a:t>核心板，采用位操作控制</a:t>
            </a:r>
            <a:r>
              <a:rPr lang="en-US" altLang="zh-CN" sz="1600"/>
              <a:t>I/O</a:t>
            </a:r>
            <a:r>
              <a:rPr lang="zh-CN" altLang="en-US" sz="1600"/>
              <a:t>引脚的方式设计一个流水灯程序。</a:t>
            </a:r>
          </a:p>
        </p:txBody>
      </p:sp>
    </p:spTree>
    <p:extLst>
      <p:ext uri="{BB962C8B-B14F-4D97-AF65-F5344CB8AC3E}">
        <p14:creationId xmlns:p14="http://schemas.microsoft.com/office/powerpoint/2010/main" val="4385901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-文本框 4">
            <a:extLst>
              <a:ext uri="{FF2B5EF4-FFF2-40B4-BE49-F238E27FC236}">
                <a16:creationId xmlns:a16="http://schemas.microsoft.com/office/drawing/2014/main" id="{972F1A22-112E-435D-A626-331B449E7C9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91285" y="1034529"/>
            <a:ext cx="1191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2000"/>
              <a:t>延时函数</a:t>
            </a:r>
          </a:p>
        </p:txBody>
      </p:sp>
      <p:sp>
        <p:nvSpPr>
          <p:cNvPr id="6" name="PA-文本框 5">
            <a:extLst>
              <a:ext uri="{FF2B5EF4-FFF2-40B4-BE49-F238E27FC236}">
                <a16:creationId xmlns:a16="http://schemas.microsoft.com/office/drawing/2014/main" id="{225900C2-028A-46B4-841A-3E8C51A6A8F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696185" y="1058478"/>
            <a:ext cx="5765599" cy="35221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 spc="120"/>
            </a:lvl1pPr>
          </a:lstStyle>
          <a:p>
            <a:r>
              <a:rPr lang="zh-CN" altLang="en-US"/>
              <a:t>让单片机进行无关运算，等待一段时间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46498B9-75F9-422A-97DA-21B5F66E8573}"/>
              </a:ext>
            </a:extLst>
          </p:cNvPr>
          <p:cNvSpPr/>
          <p:nvPr/>
        </p:nvSpPr>
        <p:spPr>
          <a:xfrm>
            <a:off x="696060" y="2020367"/>
            <a:ext cx="7161277" cy="35221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361950"/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for(j = 0; j &lt; 123; j++);</a:t>
            </a:r>
            <a:endParaRPr lang="zh-CN" altLang="en-US" sz="1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5" name="PA-文本框 5">
            <a:extLst>
              <a:ext uri="{FF2B5EF4-FFF2-40B4-BE49-F238E27FC236}">
                <a16:creationId xmlns:a16="http://schemas.microsoft.com/office/drawing/2014/main" id="{DBC09831-9BB7-40AC-9DF6-1A89ECB984A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96525" y="1635365"/>
            <a:ext cx="5765599" cy="35221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 spc="120"/>
            </a:lvl1pPr>
          </a:lstStyle>
          <a:p>
            <a:r>
              <a:rPr lang="zh-CN" altLang="en-US"/>
              <a:t>以下空循环执行的时间为</a:t>
            </a:r>
            <a:r>
              <a:rPr lang="en-US" altLang="zh-CN"/>
              <a:t>1ms</a:t>
            </a:r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086D4DA-4158-4FD1-8275-3890ABF81B5A}"/>
              </a:ext>
            </a:extLst>
          </p:cNvPr>
          <p:cNvSpPr/>
          <p:nvPr/>
        </p:nvSpPr>
        <p:spPr>
          <a:xfrm>
            <a:off x="696060" y="3077506"/>
            <a:ext cx="7161277" cy="53988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361950"/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for(i = 0; i &lt; x; i++)</a:t>
            </a:r>
          </a:p>
          <a:p>
            <a:pPr indent="361950"/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  </a:t>
            </a:r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for(j = 0; j &lt; 123; j++);</a:t>
            </a:r>
            <a:endParaRPr lang="zh-CN" altLang="en-US" sz="1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PA-文本框 5">
            <a:extLst>
              <a:ext uri="{FF2B5EF4-FFF2-40B4-BE49-F238E27FC236}">
                <a16:creationId xmlns:a16="http://schemas.microsoft.com/office/drawing/2014/main" id="{89C4154E-34AC-4141-B138-96CDE553B9A8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696060" y="2630044"/>
            <a:ext cx="7343147" cy="35221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 spc="120"/>
            </a:lvl1pPr>
          </a:lstStyle>
          <a:p>
            <a:r>
              <a:rPr lang="zh-CN" altLang="en-US"/>
              <a:t>如果要执行</a:t>
            </a:r>
            <a:r>
              <a:rPr lang="en-US" altLang="zh-CN"/>
              <a:t>x</a:t>
            </a:r>
            <a:r>
              <a:rPr lang="zh-CN" altLang="en-US"/>
              <a:t>毫秒延时，则将这条语句循环执行</a:t>
            </a:r>
            <a:r>
              <a:rPr lang="en-US" altLang="zh-CN"/>
              <a:t>x</a:t>
            </a:r>
            <a:r>
              <a:rPr lang="zh-CN" altLang="en-US"/>
              <a:t>次</a:t>
            </a:r>
          </a:p>
        </p:txBody>
      </p:sp>
    </p:spTree>
    <p:extLst>
      <p:ext uri="{BB962C8B-B14F-4D97-AF65-F5344CB8AC3E}">
        <p14:creationId xmlns:p14="http://schemas.microsoft.com/office/powerpoint/2010/main" val="35806485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BAC8C24B-971B-46A9-BB3A-8E03D9749CB2}"/>
              </a:ext>
            </a:extLst>
          </p:cNvPr>
          <p:cNvGrpSpPr/>
          <p:nvPr/>
        </p:nvGrpSpPr>
        <p:grpSpPr>
          <a:xfrm>
            <a:off x="482600" y="439828"/>
            <a:ext cx="5596404" cy="904715"/>
            <a:chOff x="482600" y="439828"/>
            <a:chExt cx="5596404" cy="904715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D3345156-5EBA-4102-AE2A-79169B096F14}"/>
                </a:ext>
              </a:extLst>
            </p:cNvPr>
            <p:cNvSpPr txBox="1"/>
            <p:nvPr/>
          </p:nvSpPr>
          <p:spPr>
            <a:xfrm>
              <a:off x="482600" y="636657"/>
              <a:ext cx="5596404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000">
                  <a:solidFill>
                    <a:schemeClr val="accent1"/>
                  </a:solidFill>
                  <a:latin typeface="+mj-ea"/>
                  <a:ea typeface="+mj-ea"/>
                </a:rPr>
                <a:t>实例</a:t>
              </a:r>
              <a:r>
                <a:rPr lang="en-US" altLang="zh-CN" sz="4000">
                  <a:solidFill>
                    <a:schemeClr val="accent1"/>
                  </a:solidFill>
                  <a:latin typeface="+mj-ea"/>
                  <a:ea typeface="+mj-ea"/>
                </a:rPr>
                <a:t>-</a:t>
              </a:r>
              <a:r>
                <a:rPr lang="zh-CN" altLang="en-US" sz="4000">
                  <a:solidFill>
                    <a:schemeClr val="accent1"/>
                  </a:solidFill>
                  <a:latin typeface="+mj-ea"/>
                  <a:ea typeface="+mj-ea"/>
                </a:rPr>
                <a:t>按字节控制流水灯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3FD2742-9550-4D58-9FBF-434D1920F8B9}"/>
                </a:ext>
              </a:extLst>
            </p:cNvPr>
            <p:cNvSpPr txBox="1"/>
            <p:nvPr/>
          </p:nvSpPr>
          <p:spPr>
            <a:xfrm>
              <a:off x="482600" y="439828"/>
              <a:ext cx="92204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Example</a:t>
              </a:r>
              <a:endParaRPr lang="zh-CN" altLang="en-US" sz="1400">
                <a:solidFill>
                  <a:schemeClr val="accent1">
                    <a:lumMod val="75000"/>
                  </a:schemeClr>
                </a:solidFill>
                <a:latin typeface="+mn-ea"/>
              </a:endParaRPr>
            </a:p>
          </p:txBody>
        </p:sp>
      </p:grpSp>
      <p:sp>
        <p:nvSpPr>
          <p:cNvPr id="10" name="PA-文本框 5">
            <a:extLst>
              <a:ext uri="{FF2B5EF4-FFF2-40B4-BE49-F238E27FC236}">
                <a16:creationId xmlns:a16="http://schemas.microsoft.com/office/drawing/2014/main" id="{F30F2B45-C872-4B36-AA3D-54EDD20580D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07055" y="3063702"/>
            <a:ext cx="5428375" cy="248837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 spc="120"/>
            </a:lvl1pPr>
          </a:lstStyle>
          <a:p>
            <a:pPr>
              <a:lnSpc>
                <a:spcPct val="200000"/>
              </a:lnSpc>
            </a:pPr>
            <a:r>
              <a:rPr lang="zh-CN" altLang="en-US" sz="1600"/>
              <a:t>要实现</a:t>
            </a:r>
            <a:r>
              <a:rPr lang="en-US" altLang="zh-CN" sz="1600"/>
              <a:t>LED</a:t>
            </a:r>
            <a:r>
              <a:rPr lang="zh-CN" altLang="en-US" sz="1600"/>
              <a:t>流水效果，</a:t>
            </a:r>
            <a:endParaRPr lang="en-US" altLang="zh-CN" sz="1600"/>
          </a:p>
          <a:p>
            <a:pPr>
              <a:lnSpc>
                <a:spcPct val="200000"/>
              </a:lnSpc>
            </a:pPr>
            <a:r>
              <a:rPr lang="zh-CN" altLang="en-US" sz="1600"/>
              <a:t>即需要不断变化</a:t>
            </a:r>
            <a:r>
              <a:rPr lang="en-US" altLang="zh-CN" sz="1600"/>
              <a:t>P2</a:t>
            </a:r>
            <a:r>
              <a:rPr lang="zh-CN" altLang="en-US" sz="1600"/>
              <a:t>特殊功能寄存器的值。</a:t>
            </a:r>
            <a:endParaRPr lang="en-US" altLang="zh-CN" sz="1600"/>
          </a:p>
          <a:p>
            <a:pPr>
              <a:lnSpc>
                <a:spcPct val="200000"/>
              </a:lnSpc>
            </a:pPr>
            <a:r>
              <a:rPr lang="zh-CN" altLang="en-US" sz="1600"/>
              <a:t>首先需要设置</a:t>
            </a:r>
            <a:r>
              <a:rPr lang="en-US" altLang="zh-CN" sz="1600"/>
              <a:t>LED</a:t>
            </a:r>
            <a:r>
              <a:rPr lang="zh-CN" altLang="en-US" sz="1600"/>
              <a:t>流水灯的初始状态，对应右图中的①。延时</a:t>
            </a:r>
            <a:r>
              <a:rPr lang="en-US" altLang="zh-CN" sz="1600"/>
              <a:t>500ms</a:t>
            </a:r>
            <a:r>
              <a:rPr lang="zh-CN" altLang="en-US" sz="1600"/>
              <a:t>后，对</a:t>
            </a:r>
            <a:r>
              <a:rPr lang="en-US" altLang="zh-CN" sz="1600"/>
              <a:t>P2</a:t>
            </a:r>
            <a:r>
              <a:rPr lang="zh-CN" altLang="en-US" sz="1600"/>
              <a:t>寄存器中的值逻辑左移，</a:t>
            </a:r>
            <a:endParaRPr lang="en-US" altLang="zh-CN" sz="1600"/>
          </a:p>
          <a:p>
            <a:pPr>
              <a:lnSpc>
                <a:spcPct val="200000"/>
              </a:lnSpc>
            </a:pPr>
            <a:r>
              <a:rPr lang="zh-CN" altLang="en-US" sz="1600"/>
              <a:t>如此循环即可实现</a:t>
            </a:r>
            <a:r>
              <a:rPr lang="en-US" altLang="zh-CN" sz="1600"/>
              <a:t>LED</a:t>
            </a:r>
            <a:r>
              <a:rPr lang="zh-CN" altLang="en-US" sz="1600"/>
              <a:t>的流水状态。</a:t>
            </a:r>
          </a:p>
        </p:txBody>
      </p:sp>
      <p:sp>
        <p:nvSpPr>
          <p:cNvPr id="11" name="PA-文本框 4">
            <a:extLst>
              <a:ext uri="{FF2B5EF4-FFF2-40B4-BE49-F238E27FC236}">
                <a16:creationId xmlns:a16="http://schemas.microsoft.com/office/drawing/2014/main" id="{877E1089-34A3-48A6-B278-56FBAA1936B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807055" y="2743555"/>
            <a:ext cx="1191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2000"/>
              <a:t>编程要点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CA79D532-42A6-4150-861D-BBB9B23F79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0625715"/>
              </p:ext>
            </p:extLst>
          </p:nvPr>
        </p:nvGraphicFramePr>
        <p:xfrm>
          <a:off x="6770451" y="1489690"/>
          <a:ext cx="4260714" cy="37696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9" name="Visio" r:id="rId7" imgW="1648472" imgH="1486418" progId="Visio.Drawing.11">
                  <p:embed/>
                </p:oleObj>
              </mc:Choice>
              <mc:Fallback>
                <p:oleObj name="Visio" r:id="rId7" imgW="1648472" imgH="1486418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0451" y="1489690"/>
                        <a:ext cx="4260714" cy="37696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PA-文本框 5">
            <a:extLst>
              <a:ext uri="{FF2B5EF4-FFF2-40B4-BE49-F238E27FC236}">
                <a16:creationId xmlns:a16="http://schemas.microsoft.com/office/drawing/2014/main" id="{917B1803-35E5-4745-95C8-A5B60EC88A2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807055" y="1541372"/>
            <a:ext cx="5428375" cy="101104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 spc="120"/>
            </a:lvl1pPr>
          </a:lstStyle>
          <a:p>
            <a:pPr>
              <a:lnSpc>
                <a:spcPct val="200000"/>
              </a:lnSpc>
            </a:pPr>
            <a:r>
              <a:rPr lang="zh-CN" altLang="en-US" sz="1600"/>
              <a:t>基于</a:t>
            </a:r>
            <a:r>
              <a:rPr lang="en-US" altLang="zh-CN" sz="1600"/>
              <a:t>51</a:t>
            </a:r>
            <a:r>
              <a:rPr lang="zh-CN" altLang="en-US" sz="1600"/>
              <a:t>核心板，采用字节操作控制</a:t>
            </a:r>
            <a:r>
              <a:rPr lang="en-US" altLang="zh-CN" sz="1600"/>
              <a:t>I/O</a:t>
            </a:r>
            <a:r>
              <a:rPr lang="zh-CN" altLang="en-US" sz="1600"/>
              <a:t>引脚的方式设计一个流水灯程序。</a:t>
            </a:r>
          </a:p>
        </p:txBody>
      </p:sp>
    </p:spTree>
    <p:extLst>
      <p:ext uri="{BB962C8B-B14F-4D97-AF65-F5344CB8AC3E}">
        <p14:creationId xmlns:p14="http://schemas.microsoft.com/office/powerpoint/2010/main" val="1966467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BAC8C24B-971B-46A9-BB3A-8E03D9749CB2}"/>
              </a:ext>
            </a:extLst>
          </p:cNvPr>
          <p:cNvGrpSpPr/>
          <p:nvPr/>
        </p:nvGrpSpPr>
        <p:grpSpPr>
          <a:xfrm>
            <a:off x="482600" y="439828"/>
            <a:ext cx="2204450" cy="904715"/>
            <a:chOff x="482600" y="439828"/>
            <a:chExt cx="2204450" cy="904715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D3345156-5EBA-4102-AE2A-79169B096F14}"/>
                </a:ext>
              </a:extLst>
            </p:cNvPr>
            <p:cNvSpPr txBox="1"/>
            <p:nvPr/>
          </p:nvSpPr>
          <p:spPr>
            <a:xfrm>
              <a:off x="482600" y="636657"/>
              <a:ext cx="220445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000">
                  <a:solidFill>
                    <a:schemeClr val="accent1"/>
                  </a:solidFill>
                  <a:latin typeface="+mj-ea"/>
                  <a:ea typeface="+mj-ea"/>
                </a:rPr>
                <a:t>应用实践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3FD2742-9550-4D58-9FBF-434D1920F8B9}"/>
                </a:ext>
              </a:extLst>
            </p:cNvPr>
            <p:cNvSpPr txBox="1"/>
            <p:nvPr/>
          </p:nvSpPr>
          <p:spPr>
            <a:xfrm>
              <a:off x="482600" y="439828"/>
              <a:ext cx="65594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Tasks</a:t>
              </a:r>
              <a:endParaRPr lang="zh-CN" altLang="en-US" sz="1400">
                <a:solidFill>
                  <a:schemeClr val="accent1">
                    <a:lumMod val="75000"/>
                  </a:schemeClr>
                </a:solidFill>
                <a:latin typeface="+mn-ea"/>
              </a:endParaRPr>
            </a:p>
          </p:txBody>
        </p:sp>
      </p:grpSp>
      <p:sp>
        <p:nvSpPr>
          <p:cNvPr id="6" name="PA-文本框 5">
            <a:extLst>
              <a:ext uri="{FF2B5EF4-FFF2-40B4-BE49-F238E27FC236}">
                <a16:creationId xmlns:a16="http://schemas.microsoft.com/office/drawing/2014/main" id="{358038A7-8707-4C25-B76A-317163DDDEA3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968228" y="2184813"/>
            <a:ext cx="10025852" cy="248837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 spc="120"/>
            </a:lvl1pPr>
          </a:lstStyle>
          <a:p>
            <a:pPr>
              <a:lnSpc>
                <a:spcPct val="200000"/>
              </a:lnSpc>
            </a:pPr>
            <a:r>
              <a:rPr lang="en-US" altLang="zh-CN" sz="1600"/>
              <a:t>1</a:t>
            </a:r>
            <a:r>
              <a:rPr lang="zh-CN" altLang="en-US" sz="1600"/>
              <a:t>．利用本章所学知识，尝试实现其他流水灯样式。</a:t>
            </a:r>
          </a:p>
          <a:p>
            <a:pPr>
              <a:lnSpc>
                <a:spcPct val="200000"/>
              </a:lnSpc>
            </a:pPr>
            <a:r>
              <a:rPr lang="zh-CN" altLang="en-US" sz="1600"/>
              <a:t>（任务提示：流水灯样式</a:t>
            </a:r>
            <a:r>
              <a:rPr lang="en-US" altLang="zh-CN" sz="1600"/>
              <a:t>1</a:t>
            </a:r>
            <a:r>
              <a:rPr lang="zh-CN" altLang="en-US" sz="1600"/>
              <a:t>：</a:t>
            </a:r>
            <a:r>
              <a:rPr lang="en-US" altLang="zh-CN" sz="1600"/>
              <a:t>LED1~LED4</a:t>
            </a:r>
            <a:r>
              <a:rPr lang="zh-CN" altLang="en-US" sz="1600"/>
              <a:t>逐个亮起并保持亮起状态，再从</a:t>
            </a:r>
            <a:r>
              <a:rPr lang="en-US" altLang="zh-CN" sz="1600"/>
              <a:t>LED1~LED4</a:t>
            </a:r>
            <a:r>
              <a:rPr lang="zh-CN" altLang="en-US" sz="1600"/>
              <a:t>逐个熄灭；流水灯样式</a:t>
            </a:r>
            <a:r>
              <a:rPr lang="en-US" altLang="zh-CN" sz="1600"/>
              <a:t>2</a:t>
            </a:r>
            <a:r>
              <a:rPr lang="zh-CN" altLang="en-US" sz="1600"/>
              <a:t>：在本章例程的流水灯基础上实现倒序流水，即图</a:t>
            </a:r>
            <a:r>
              <a:rPr lang="en-US" altLang="zh-CN" sz="1600"/>
              <a:t>3 9</a:t>
            </a:r>
            <a:r>
              <a:rPr lang="zh-CN" altLang="en-US" sz="1600"/>
              <a:t>中由④到①的过程）</a:t>
            </a:r>
          </a:p>
          <a:p>
            <a:pPr>
              <a:lnSpc>
                <a:spcPct val="200000"/>
              </a:lnSpc>
            </a:pPr>
            <a:r>
              <a:rPr lang="en-US" altLang="zh-CN" sz="1600"/>
              <a:t>2</a:t>
            </a:r>
            <a:r>
              <a:rPr lang="zh-CN" altLang="en-US" sz="1600"/>
              <a:t>．将流水灯点亮与熄灭之间的延时分别改为</a:t>
            </a:r>
            <a:r>
              <a:rPr lang="en-US" altLang="zh-CN" sz="1600"/>
              <a:t>100</a:t>
            </a:r>
            <a:r>
              <a:rPr lang="zh-CN" altLang="en-US" sz="1600"/>
              <a:t>毫秒、</a:t>
            </a:r>
            <a:r>
              <a:rPr lang="en-US" altLang="zh-CN" sz="1600"/>
              <a:t>50</a:t>
            </a:r>
            <a:r>
              <a:rPr lang="zh-CN" altLang="en-US" sz="1600"/>
              <a:t>毫秒、</a:t>
            </a:r>
            <a:r>
              <a:rPr lang="en-US" altLang="zh-CN" sz="1600"/>
              <a:t>10</a:t>
            </a:r>
            <a:r>
              <a:rPr lang="zh-CN" altLang="en-US" sz="1600"/>
              <a:t>毫秒、</a:t>
            </a:r>
            <a:r>
              <a:rPr lang="en-US" altLang="zh-CN" sz="1600"/>
              <a:t>1</a:t>
            </a:r>
            <a:r>
              <a:rPr lang="zh-CN" altLang="en-US" sz="1600"/>
              <a:t>毫秒，注意观察</a:t>
            </a:r>
            <a:r>
              <a:rPr lang="en-US" altLang="zh-CN" sz="1600"/>
              <a:t>LED</a:t>
            </a:r>
            <a:r>
              <a:rPr lang="zh-CN" altLang="en-US" sz="1600"/>
              <a:t>灯的点亮与熄灭状态。</a:t>
            </a:r>
          </a:p>
        </p:txBody>
      </p:sp>
    </p:spTree>
    <p:extLst>
      <p:ext uri="{BB962C8B-B14F-4D97-AF65-F5344CB8AC3E}">
        <p14:creationId xmlns:p14="http://schemas.microsoft.com/office/powerpoint/2010/main" val="595848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Moderate&quot;,&quot;Name&quot;:&quot;适中&quot;,&quot;Kind&quot;:&quot;System&quot;,&quot;OldGuidesSetting&quot;:{&quot;HeaderHeight&quot;:13.0,&quot;FooterHeight&quot;:6.0,&quot;SideMargin&quot;:4.0,&quot;TopMargin&quot;:0.0,&quot;BottomMargin&quot;:0.0,&quot;IntervalMargin&quot;:1.5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heme/theme1.xml><?xml version="1.0" encoding="utf-8"?>
<a:theme xmlns:a="http://schemas.openxmlformats.org/drawingml/2006/main" name="Office 主题​​">
  <a:themeElements>
    <a:clrScheme name="替换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303B8F"/>
      </a:accent1>
      <a:accent2>
        <a:srgbClr val="FE7F6E"/>
      </a:accent2>
      <a:accent3>
        <a:srgbClr val="CCD1E4"/>
      </a:accent3>
      <a:accent4>
        <a:srgbClr val="FEECE9"/>
      </a:accent4>
      <a:accent5>
        <a:srgbClr val="FFF4EF"/>
      </a:accent5>
      <a:accent6>
        <a:srgbClr val="62A39F"/>
      </a:accent6>
      <a:hlink>
        <a:srgbClr val="6EAC1C"/>
      </a:hlink>
      <a:folHlink>
        <a:srgbClr val="B26B02"/>
      </a:folHlink>
    </a:clrScheme>
    <a:fontScheme name="Ali">
      <a:majorFont>
        <a:latin typeface="优设好身体"/>
        <a:ea typeface="阿里巴巴普惠体 B"/>
        <a:cs typeface=""/>
      </a:majorFont>
      <a:minorFont>
        <a:latin typeface="优设好身体"/>
        <a:ea typeface="阿里巴巴普惠体 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4477</TotalTime>
  <Words>987</Words>
  <Application>Microsoft Office PowerPoint</Application>
  <PresentationFormat>宽屏</PresentationFormat>
  <Paragraphs>246</Paragraphs>
  <Slides>14</Slides>
  <Notes>14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阿里巴巴普惠体 B</vt:lpstr>
      <vt:lpstr>阿里巴巴普惠体 R</vt:lpstr>
      <vt:lpstr>等线</vt:lpstr>
      <vt:lpstr>优设好身体</vt:lpstr>
      <vt:lpstr>Arial</vt:lpstr>
      <vt:lpstr>Wingdings</vt:lpstr>
      <vt:lpstr>Office 主题​​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Yim SuiTinG</dc:creator>
  <cp:lastModifiedBy>健辉 李</cp:lastModifiedBy>
  <cp:revision>77</cp:revision>
  <dcterms:created xsi:type="dcterms:W3CDTF">2022-04-22T12:30:54Z</dcterms:created>
  <dcterms:modified xsi:type="dcterms:W3CDTF">2023-04-06T03:10:59Z</dcterms:modified>
</cp:coreProperties>
</file>